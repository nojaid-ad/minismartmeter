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114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>
        <p:scale>
          <a:sx n="66" d="100"/>
          <a:sy n="66" d="100"/>
        </p:scale>
        <p:origin x="4584" y="19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355A-F074-1073-B394-A60D26F81D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EAFAA-8363-7E9C-1915-28632C3F4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03D43-ECDC-2F49-1226-11F998825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5EF04-BFE9-C87D-36A0-BA7B38CE2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142AC-2B9D-E954-FC4B-FCDB70F35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7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1CD7F-D1AB-58AD-315D-41988B92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005EE-38C9-4C82-6909-210F77558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1EE4B-214A-57A7-5441-053DDDF35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49474-4016-91B9-BF4E-66D508347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3342B-88B9-B981-6818-E903FB11D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7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F04C-AA04-47E7-E5C2-49D2D30E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47312-A7C2-AF02-D90A-92B0A24BC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668C6-F14E-246B-6BB3-54A59CF1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731EA-2D5A-57AD-6B32-6335CEC9D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AE6DB-51EA-3F52-E62E-BB2366A1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2B42-068C-D8F3-CE11-5958C69F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71B06-02BD-F7BC-6969-83B6D4E22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B6A2C-18B5-69FB-D35D-6EB1983AC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6DFA2-C457-71B8-121D-17EFA5CB0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2E4AD-EB71-BDCC-3E36-2C2B74F9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9E157-32E7-3825-17C4-5305E0AE0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6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FE26-4589-5363-C3C1-4AAB319A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F93C1-4777-46CF-D347-A3BCF28C9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5BDB9-4447-52C8-53F6-2E168E649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BA1ED0-323F-F445-F2CE-1B9181F5B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830F0-2C42-0035-DD9E-84D908475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B9DB17-F9BA-AE1B-8E4F-E52B4401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3F2A1-3519-C4C7-F9FC-43E1E1661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F3AB38-95FC-4AC8-D723-C778B436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30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EB43-3221-2709-7AA7-FCA956AB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42507D-E040-6485-7BD4-AD88677A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8A2F5-08A2-B516-1CA9-79CABA83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C9C48-230E-D59B-D176-3CF24942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3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85171-530D-DE4B-3C28-95D3DA8C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50724-ED38-2C4A-7220-F24E3C2D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0B4D1-BE7E-5D3B-5997-6A8D3317E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2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CB95-B1D7-7C35-2E26-31492B00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36D26-34C0-28AE-CFE8-A692D71D4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FA181-A7AC-DB7F-C7E1-129CD21B3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A29F9-6510-EE7A-50AE-77D4A264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F94FD-70F1-484D-F525-F4FCD03D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639D9-A5B6-2321-7069-2F7ECB17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24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FD63-5301-BCC9-3B6F-24B364B3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7FD417-3877-BDBD-00A1-EBC0C9481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AF702-E674-7ADA-CD9C-638FB7CB0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1F4B5-DFB5-7AEE-597B-729BF89C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2DB6E-0CED-BBCB-C35D-442DB2AB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D03E9-B034-E33D-FF40-672ECC8C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5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EEC7C-00C6-F72F-90C6-C7581E42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31215-FA73-8035-63B8-B120A1D8B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6A876-95C6-5FB5-AD47-2CFFCD85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74B85-B702-E324-6A4F-29ADCC0D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6C934-6106-B966-D75B-B90CF0F1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8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B4086-47B8-8219-6967-99F0C798D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BBE58-2976-B887-7035-E063FD215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E485F-6031-4652-E9A6-925A2057F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71497-40B0-1A80-29AE-9C0A06951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92AE5-E41B-757E-657F-77F58564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6AC6C-3BC0-B2FF-E46A-3C2664F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CA9D5-767E-5DAD-BC36-6703AD349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840FB-A378-05AE-0E3B-F1D6556B0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954B9-32AC-4151-B18F-A1E0D0A00DD4}" type="datetimeFigureOut">
              <a:rPr lang="en-US" smtClean="0"/>
              <a:t>12/21/25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4AFEF-4CC6-DC3C-FE22-117A73BF6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5F9EC-3853-5243-4BB2-B4122ABE9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62310-DD5E-48FF-B76E-29E05EC22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4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97657EA-5350-3A7E-9F49-498D49ECB38A}"/>
              </a:ext>
            </a:extLst>
          </p:cNvPr>
          <p:cNvSpPr/>
          <p:nvPr/>
        </p:nvSpPr>
        <p:spPr>
          <a:xfrm rot="18788168" flipH="1">
            <a:off x="3667721" y="-1097889"/>
            <a:ext cx="2100150" cy="2176322"/>
          </a:xfrm>
          <a:prstGeom prst="triangle">
            <a:avLst>
              <a:gd name="adj" fmla="val 100000"/>
            </a:avLst>
          </a:prstGeom>
          <a:solidFill>
            <a:srgbClr val="00336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E010267C-1E40-DB0A-FCA9-D2F57FE47F43}"/>
              </a:ext>
            </a:extLst>
          </p:cNvPr>
          <p:cNvSpPr/>
          <p:nvPr/>
        </p:nvSpPr>
        <p:spPr>
          <a:xfrm rot="8015819" flipH="1">
            <a:off x="6439963" y="5779566"/>
            <a:ext cx="2100150" cy="2176322"/>
          </a:xfrm>
          <a:prstGeom prst="triangle">
            <a:avLst>
              <a:gd name="adj" fmla="val 100000"/>
            </a:avLst>
          </a:prstGeom>
          <a:solidFill>
            <a:srgbClr val="00336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4131387-9F6F-5F0D-ADF3-1B25E13972EC}"/>
              </a:ext>
            </a:extLst>
          </p:cNvPr>
          <p:cNvSpPr/>
          <p:nvPr/>
        </p:nvSpPr>
        <p:spPr>
          <a:xfrm rot="5400000" flipH="1">
            <a:off x="77343" y="-77343"/>
            <a:ext cx="4264914" cy="4419600"/>
          </a:xfrm>
          <a:prstGeom prst="triangle">
            <a:avLst>
              <a:gd name="adj" fmla="val 10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FAFE84D-97E9-0FE1-191F-D854898F15AD}"/>
              </a:ext>
            </a:extLst>
          </p:cNvPr>
          <p:cNvSpPr/>
          <p:nvPr/>
        </p:nvSpPr>
        <p:spPr>
          <a:xfrm rot="16200000" flipH="1">
            <a:off x="7849745" y="2515743"/>
            <a:ext cx="4264914" cy="4419600"/>
          </a:xfrm>
          <a:prstGeom prst="triangle">
            <a:avLst>
              <a:gd name="adj" fmla="val 10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CD40E3-794C-4C0A-54CD-2308A144BA04}"/>
              </a:ext>
            </a:extLst>
          </p:cNvPr>
          <p:cNvSpPr txBox="1"/>
          <p:nvPr/>
        </p:nvSpPr>
        <p:spPr>
          <a:xfrm>
            <a:off x="1891868" y="2834717"/>
            <a:ext cx="8408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4000" b="1" i="0" dirty="0">
                <a:solidFill>
                  <a:srgbClr val="003366"/>
                </a:solidFill>
                <a:effectLst/>
                <a:latin typeface="ui-sans-serif"/>
              </a:rPr>
              <a:t>Mini Meter Reading and Billing System</a:t>
            </a:r>
            <a:endParaRPr lang="en-US" sz="4000" b="1" dirty="0">
              <a:solidFill>
                <a:srgbClr val="003366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0" name="Picture 9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D1BE3818-9590-5002-D593-67447E353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36162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350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FDBDB128-DC4B-81E0-DA29-CCF34F659B3D}"/>
              </a:ext>
            </a:extLst>
          </p:cNvPr>
          <p:cNvSpPr/>
          <p:nvPr/>
        </p:nvSpPr>
        <p:spPr>
          <a:xfrm rot="18788168" flipH="1">
            <a:off x="2600214" y="-562787"/>
            <a:ext cx="1048671" cy="1086663"/>
          </a:xfrm>
          <a:prstGeom prst="triangle">
            <a:avLst>
              <a:gd name="adj" fmla="val 100000"/>
            </a:avLst>
          </a:prstGeom>
          <a:solidFill>
            <a:srgbClr val="00336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2B2F3BC-523D-3BF6-A6BB-768B508D6AC6}"/>
              </a:ext>
            </a:extLst>
          </p:cNvPr>
          <p:cNvSpPr/>
          <p:nvPr/>
        </p:nvSpPr>
        <p:spPr>
          <a:xfrm rot="8015819" flipH="1">
            <a:off x="7883877" y="6324630"/>
            <a:ext cx="1048204" cy="1086194"/>
          </a:xfrm>
          <a:prstGeom prst="triangle">
            <a:avLst>
              <a:gd name="adj" fmla="val 100000"/>
            </a:avLst>
          </a:prstGeom>
          <a:solidFill>
            <a:srgbClr val="00336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BE981F0-3D09-2478-D0F1-CF9E015E4D16}"/>
              </a:ext>
            </a:extLst>
          </p:cNvPr>
          <p:cNvSpPr/>
          <p:nvPr/>
        </p:nvSpPr>
        <p:spPr>
          <a:xfrm rot="5400000" flipH="1">
            <a:off x="57705" y="-67433"/>
            <a:ext cx="2521258" cy="2636668"/>
          </a:xfrm>
          <a:prstGeom prst="triangle">
            <a:avLst>
              <a:gd name="adj" fmla="val 10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E6B2E83-247D-9A83-334F-CD9173213EAA}"/>
              </a:ext>
            </a:extLst>
          </p:cNvPr>
          <p:cNvSpPr/>
          <p:nvPr/>
        </p:nvSpPr>
        <p:spPr>
          <a:xfrm rot="16200000" flipH="1">
            <a:off x="9286381" y="3952382"/>
            <a:ext cx="2593086" cy="3218153"/>
          </a:xfrm>
          <a:prstGeom prst="triangle">
            <a:avLst>
              <a:gd name="adj" fmla="val 10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7E1DF-C43E-DC46-2FF5-F48B6A07FDAE}"/>
              </a:ext>
            </a:extLst>
          </p:cNvPr>
          <p:cNvSpPr txBox="1"/>
          <p:nvPr/>
        </p:nvSpPr>
        <p:spPr>
          <a:xfrm>
            <a:off x="2717447" y="1245320"/>
            <a:ext cx="6757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3200" b="1" i="0" dirty="0">
                <a:solidFill>
                  <a:srgbClr val="003366"/>
                </a:solidFill>
                <a:effectLst/>
                <a:latin typeface="ui-sans-serif"/>
              </a:rPr>
              <a:t>Mini Meter Reading and Billing System</a:t>
            </a:r>
            <a:endParaRPr lang="en-US" sz="3200" b="1" dirty="0">
              <a:solidFill>
                <a:srgbClr val="003366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F3688-8144-97A3-1360-D31CC8DECD87}"/>
              </a:ext>
            </a:extLst>
          </p:cNvPr>
          <p:cNvSpPr txBox="1"/>
          <p:nvPr/>
        </p:nvSpPr>
        <p:spPr>
          <a:xfrm>
            <a:off x="2745633" y="2982161"/>
            <a:ext cx="6700735" cy="3635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1200" b="0" i="0" dirty="0">
              <a:effectLst/>
              <a:latin typeface="Cairo" pitchFamily="2" charset="-78"/>
              <a:cs typeface="Cairo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ar-LY" b="1" i="0" dirty="0">
                <a:effectLst/>
                <a:latin typeface="Cairo" pitchFamily="2" charset="-78"/>
                <a:cs typeface="Cairo" pitchFamily="2" charset="-78"/>
              </a:rPr>
              <a:t>إعداد</a:t>
            </a:r>
            <a:r>
              <a:rPr lang="ar-LY" b="0" i="0" dirty="0">
                <a:effectLst/>
                <a:latin typeface="Cairo" pitchFamily="2" charset="-78"/>
                <a:cs typeface="Cairo" pitchFamily="2" charset="-78"/>
              </a:rPr>
              <a:t>:</a:t>
            </a:r>
            <a:br>
              <a:rPr lang="ar-LY" b="0" i="0" dirty="0">
                <a:effectLst/>
                <a:latin typeface="Cairo" pitchFamily="2" charset="-78"/>
                <a:cs typeface="Cairo" pitchFamily="2" charset="-78"/>
              </a:rPr>
            </a:br>
            <a:r>
              <a:rPr lang="ar-LY" dirty="0">
                <a:latin typeface="Cairo" pitchFamily="2" charset="-78"/>
                <a:cs typeface="Cairo" pitchFamily="2" charset="-78"/>
              </a:rPr>
              <a:t>أيوب احفيظ ابوالقاسم ابوسنينه</a:t>
            </a:r>
            <a:br>
              <a:rPr lang="ar-LY" dirty="0">
                <a:latin typeface="Cairo" pitchFamily="2" charset="-78"/>
                <a:cs typeface="Cairo" pitchFamily="2" charset="-78"/>
              </a:rPr>
            </a:br>
            <a:r>
              <a:rPr lang="ar-LY" dirty="0">
                <a:latin typeface="Cairo" pitchFamily="2" charset="-78"/>
                <a:cs typeface="Cairo" pitchFamily="2" charset="-78"/>
              </a:rPr>
              <a:t>نجيد عبدالله عيسى عمارة</a:t>
            </a:r>
            <a:br>
              <a:rPr lang="ar-LY" dirty="0">
                <a:latin typeface="Cairo" pitchFamily="2" charset="-78"/>
                <a:cs typeface="Cairo" pitchFamily="2" charset="-78"/>
              </a:rPr>
            </a:br>
            <a:br>
              <a:rPr lang="ar-LY" dirty="0">
                <a:latin typeface="Cairo" pitchFamily="2" charset="-78"/>
                <a:cs typeface="Cairo" pitchFamily="2" charset="-78"/>
              </a:rPr>
            </a:br>
            <a:r>
              <a:rPr lang="ar-LY" b="1" i="0" dirty="0">
                <a:effectLst/>
                <a:latin typeface="Cairo" pitchFamily="2" charset="-78"/>
                <a:cs typeface="Cairo" pitchFamily="2" charset="-78"/>
              </a:rPr>
              <a:t>إشراف:</a:t>
            </a:r>
          </a:p>
          <a:p>
            <a:pPr algn="ctr">
              <a:lnSpc>
                <a:spcPct val="150000"/>
              </a:lnSpc>
            </a:pPr>
            <a:r>
              <a:rPr lang="ar-LY" b="0" i="0" dirty="0">
                <a:effectLst/>
                <a:latin typeface="Cairo" pitchFamily="2" charset="-78"/>
                <a:cs typeface="Cairo" pitchFamily="2" charset="-78"/>
              </a:rPr>
              <a:t> د. مي مفتاح البعباع</a:t>
            </a:r>
            <a:endParaRPr lang="en-US" b="0" i="0" dirty="0">
              <a:effectLst/>
              <a:latin typeface="Cairo" pitchFamily="2" charset="-78"/>
              <a:cs typeface="Cairo" pitchFamily="2" charset="-78"/>
            </a:endParaRPr>
          </a:p>
          <a:p>
            <a:pPr algn="ctr">
              <a:lnSpc>
                <a:spcPct val="150000"/>
              </a:lnSpc>
            </a:pPr>
            <a:endParaRPr lang="ar-LY" b="0" i="0" dirty="0">
              <a:effectLst/>
              <a:latin typeface="Cairo" pitchFamily="2" charset="-78"/>
              <a:cs typeface="Cairo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ar-LY" dirty="0">
                <a:latin typeface="Cairo" pitchFamily="2" charset="-78"/>
                <a:cs typeface="Cairo" pitchFamily="2" charset="-78"/>
              </a:rPr>
              <a:t>الفصل خريف 2025</a:t>
            </a:r>
            <a:endParaRPr lang="en-US" b="0" i="0" dirty="0">
              <a:effectLst/>
              <a:latin typeface="Cairo" pitchFamily="2" charset="-78"/>
              <a:cs typeface="Cairo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66D85-9426-D2C2-5D76-E8DF9B25581C}"/>
              </a:ext>
            </a:extLst>
          </p:cNvPr>
          <p:cNvSpPr txBox="1"/>
          <p:nvPr/>
        </p:nvSpPr>
        <p:spPr>
          <a:xfrm>
            <a:off x="2745633" y="2161580"/>
            <a:ext cx="6700735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b="0" i="0" dirty="0">
                <a:effectLst/>
                <a:latin typeface="Cairo" pitchFamily="2" charset="-78"/>
                <a:cs typeface="Cairo" pitchFamily="2" charset="-78"/>
              </a:rPr>
              <a:t>قسم هندسة البرمجيات – كلية تقنية المعلومات جامعة صبراتة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Cairo" pitchFamily="2" charset="-78"/>
                <a:cs typeface="Cairo" pitchFamily="2" charset="-78"/>
              </a:rPr>
              <a:t> (ITSE424) </a:t>
            </a:r>
            <a:r>
              <a:rPr lang="ar-LY" dirty="0">
                <a:latin typeface="Cairo" pitchFamily="2" charset="-78"/>
                <a:cs typeface="Cairo" pitchFamily="2" charset="-78"/>
              </a:rPr>
              <a:t>مقرر أنماط تصميم البرمجيات</a:t>
            </a:r>
            <a:endParaRPr lang="en-US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F6350AA-4EA2-51CD-2468-38F01C6D153E}"/>
              </a:ext>
            </a:extLst>
          </p:cNvPr>
          <p:cNvSpPr/>
          <p:nvPr/>
        </p:nvSpPr>
        <p:spPr>
          <a:xfrm>
            <a:off x="13178976" y="0"/>
            <a:ext cx="6096000" cy="6925511"/>
          </a:xfrm>
          <a:prstGeom prst="roundRect">
            <a:avLst>
              <a:gd name="adj" fmla="val 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B58967-872E-E20A-C243-E14C17998BF8}"/>
              </a:ext>
            </a:extLst>
          </p:cNvPr>
          <p:cNvSpPr txBox="1"/>
          <p:nvPr/>
        </p:nvSpPr>
        <p:spPr>
          <a:xfrm>
            <a:off x="21832139" y="594328"/>
            <a:ext cx="219600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1. المقدمة</a:t>
            </a:r>
            <a:endParaRPr lang="en-US" sz="2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19" name="Picture 18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4BECC6CB-E854-9744-50C9-357F0FEAC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0" y="36162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326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FDBDB128-DC4B-81E0-DA29-CCF34F659B3D}"/>
              </a:ext>
            </a:extLst>
          </p:cNvPr>
          <p:cNvSpPr/>
          <p:nvPr/>
        </p:nvSpPr>
        <p:spPr>
          <a:xfrm rot="18788168" flipH="1">
            <a:off x="1648125" y="-2053388"/>
            <a:ext cx="1048671" cy="1086663"/>
          </a:xfrm>
          <a:prstGeom prst="triangle">
            <a:avLst>
              <a:gd name="adj" fmla="val 100000"/>
            </a:avLst>
          </a:prstGeom>
          <a:solidFill>
            <a:srgbClr val="00336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2B2F3BC-523D-3BF6-A6BB-768B508D6AC6}"/>
              </a:ext>
            </a:extLst>
          </p:cNvPr>
          <p:cNvSpPr/>
          <p:nvPr/>
        </p:nvSpPr>
        <p:spPr>
          <a:xfrm rot="8015819" flipH="1">
            <a:off x="9705178" y="7823231"/>
            <a:ext cx="1048204" cy="1086194"/>
          </a:xfrm>
          <a:prstGeom prst="triangle">
            <a:avLst>
              <a:gd name="adj" fmla="val 100000"/>
            </a:avLst>
          </a:prstGeom>
          <a:solidFill>
            <a:srgbClr val="00336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BE981F0-3D09-2478-D0F1-CF9E015E4D16}"/>
              </a:ext>
            </a:extLst>
          </p:cNvPr>
          <p:cNvSpPr/>
          <p:nvPr/>
        </p:nvSpPr>
        <p:spPr>
          <a:xfrm rot="5400000" flipH="1">
            <a:off x="-1161495" y="-1642233"/>
            <a:ext cx="2521258" cy="2636668"/>
          </a:xfrm>
          <a:prstGeom prst="triangle">
            <a:avLst>
              <a:gd name="adj" fmla="val 10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E6B2E83-247D-9A83-334F-CD9173213EAA}"/>
              </a:ext>
            </a:extLst>
          </p:cNvPr>
          <p:cNvSpPr/>
          <p:nvPr/>
        </p:nvSpPr>
        <p:spPr>
          <a:xfrm rot="16200000" flipH="1">
            <a:off x="11107682" y="5450983"/>
            <a:ext cx="2593086" cy="3218153"/>
          </a:xfrm>
          <a:prstGeom prst="triangle">
            <a:avLst>
              <a:gd name="adj" fmla="val 10000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7E1DF-C43E-DC46-2FF5-F48B6A07FDAE}"/>
              </a:ext>
            </a:extLst>
          </p:cNvPr>
          <p:cNvSpPr txBox="1"/>
          <p:nvPr/>
        </p:nvSpPr>
        <p:spPr>
          <a:xfrm>
            <a:off x="2717447" y="-1788165"/>
            <a:ext cx="6757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3200" b="1" i="0" dirty="0">
                <a:solidFill>
                  <a:srgbClr val="003366"/>
                </a:solidFill>
                <a:effectLst/>
                <a:latin typeface="ui-sans-serif"/>
              </a:rPr>
              <a:t>Mini Meter Reading and Billing System</a:t>
            </a:r>
            <a:endParaRPr lang="en-US" sz="3200" b="1" dirty="0">
              <a:solidFill>
                <a:srgbClr val="003366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93070-5E71-E3D4-3CF7-2B73D9873446}"/>
              </a:ext>
            </a:extLst>
          </p:cNvPr>
          <p:cNvSpPr txBox="1"/>
          <p:nvPr/>
        </p:nvSpPr>
        <p:spPr>
          <a:xfrm>
            <a:off x="2745633" y="6925511"/>
            <a:ext cx="6700735" cy="3635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1200" b="0" i="0" dirty="0">
              <a:effectLst/>
              <a:latin typeface="Cairo" pitchFamily="2" charset="-78"/>
              <a:cs typeface="Cairo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ar-LY" b="1" i="0" dirty="0">
                <a:effectLst/>
                <a:latin typeface="Cairo" pitchFamily="2" charset="-78"/>
                <a:cs typeface="Cairo" pitchFamily="2" charset="-78"/>
              </a:rPr>
              <a:t>إعداد</a:t>
            </a:r>
            <a:r>
              <a:rPr lang="ar-LY" b="0" i="0" dirty="0">
                <a:effectLst/>
                <a:latin typeface="Cairo" pitchFamily="2" charset="-78"/>
                <a:cs typeface="Cairo" pitchFamily="2" charset="-78"/>
              </a:rPr>
              <a:t>:</a:t>
            </a:r>
            <a:br>
              <a:rPr lang="ar-LY" b="0" i="0" dirty="0">
                <a:effectLst/>
                <a:latin typeface="Cairo" pitchFamily="2" charset="-78"/>
                <a:cs typeface="Cairo" pitchFamily="2" charset="-78"/>
              </a:rPr>
            </a:br>
            <a:r>
              <a:rPr lang="ar-LY" dirty="0">
                <a:latin typeface="Cairo" pitchFamily="2" charset="-78"/>
                <a:cs typeface="Cairo" pitchFamily="2" charset="-78"/>
              </a:rPr>
              <a:t>أيوب احفيظ ابوالقاسم ابوسنينه</a:t>
            </a:r>
            <a:br>
              <a:rPr lang="ar-LY" dirty="0">
                <a:latin typeface="Cairo" pitchFamily="2" charset="-78"/>
                <a:cs typeface="Cairo" pitchFamily="2" charset="-78"/>
              </a:rPr>
            </a:br>
            <a:r>
              <a:rPr lang="ar-LY" dirty="0">
                <a:latin typeface="Cairo" pitchFamily="2" charset="-78"/>
                <a:cs typeface="Cairo" pitchFamily="2" charset="-78"/>
              </a:rPr>
              <a:t>نجيد عبدالله عيسى عمارة</a:t>
            </a:r>
            <a:br>
              <a:rPr lang="ar-LY" dirty="0">
                <a:latin typeface="Cairo" pitchFamily="2" charset="-78"/>
                <a:cs typeface="Cairo" pitchFamily="2" charset="-78"/>
              </a:rPr>
            </a:br>
            <a:br>
              <a:rPr lang="ar-LY" dirty="0">
                <a:latin typeface="Cairo" pitchFamily="2" charset="-78"/>
                <a:cs typeface="Cairo" pitchFamily="2" charset="-78"/>
              </a:rPr>
            </a:br>
            <a:r>
              <a:rPr lang="ar-LY" b="1" i="0" dirty="0">
                <a:effectLst/>
                <a:latin typeface="Cairo" pitchFamily="2" charset="-78"/>
                <a:cs typeface="Cairo" pitchFamily="2" charset="-78"/>
              </a:rPr>
              <a:t>إشراف:</a:t>
            </a:r>
          </a:p>
          <a:p>
            <a:pPr algn="ctr">
              <a:lnSpc>
                <a:spcPct val="150000"/>
              </a:lnSpc>
            </a:pPr>
            <a:r>
              <a:rPr lang="ar-LY" b="0" i="0" dirty="0">
                <a:effectLst/>
                <a:latin typeface="Cairo" pitchFamily="2" charset="-78"/>
                <a:cs typeface="Cairo" pitchFamily="2" charset="-78"/>
              </a:rPr>
              <a:t> د. مي مفتاح البعباع</a:t>
            </a:r>
            <a:endParaRPr lang="en-US" b="0" i="0" dirty="0">
              <a:effectLst/>
              <a:latin typeface="Cairo" pitchFamily="2" charset="-78"/>
              <a:cs typeface="Cairo" pitchFamily="2" charset="-78"/>
            </a:endParaRPr>
          </a:p>
          <a:p>
            <a:pPr algn="ctr">
              <a:lnSpc>
                <a:spcPct val="150000"/>
              </a:lnSpc>
            </a:pPr>
            <a:endParaRPr lang="ar-LY" b="0" i="0" dirty="0">
              <a:effectLst/>
              <a:latin typeface="Cairo" pitchFamily="2" charset="-78"/>
              <a:cs typeface="Cairo" pitchFamily="2" charset="-78"/>
            </a:endParaRPr>
          </a:p>
          <a:p>
            <a:pPr algn="ctr">
              <a:lnSpc>
                <a:spcPct val="150000"/>
              </a:lnSpc>
            </a:pPr>
            <a:r>
              <a:rPr lang="ar-LY" dirty="0">
                <a:latin typeface="Cairo" pitchFamily="2" charset="-78"/>
                <a:cs typeface="Cairo" pitchFamily="2" charset="-78"/>
              </a:rPr>
              <a:t>الفصل خريف 2025</a:t>
            </a:r>
            <a:endParaRPr lang="en-US" b="0" i="0" dirty="0">
              <a:effectLst/>
              <a:latin typeface="Cairo" pitchFamily="2" charset="-78"/>
              <a:cs typeface="Cairo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FB94B-713E-798A-55D2-FAB623E8C52B}"/>
              </a:ext>
            </a:extLst>
          </p:cNvPr>
          <p:cNvSpPr txBox="1"/>
          <p:nvPr/>
        </p:nvSpPr>
        <p:spPr>
          <a:xfrm>
            <a:off x="2745633" y="-983483"/>
            <a:ext cx="6700735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b="0" i="0" dirty="0">
                <a:effectLst/>
                <a:latin typeface="Cairo" pitchFamily="2" charset="-78"/>
                <a:cs typeface="Cairo" pitchFamily="2" charset="-78"/>
              </a:rPr>
              <a:t>قسم هندسة البرمجيات – كلية تقنية المعلومات جامعة صبراتة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Cairo" pitchFamily="2" charset="-78"/>
                <a:cs typeface="Cairo" pitchFamily="2" charset="-78"/>
              </a:rPr>
              <a:t> (ITSE424) </a:t>
            </a:r>
            <a:r>
              <a:rPr lang="ar-LY" dirty="0">
                <a:latin typeface="Cairo" pitchFamily="2" charset="-78"/>
                <a:cs typeface="Cairo" pitchFamily="2" charset="-78"/>
              </a:rPr>
              <a:t>مقرر أنماط تصميم البرمجيات</a:t>
            </a:r>
            <a:endParaRPr lang="en-US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6007100" y="-12700"/>
            <a:ext cx="6197600" cy="6925511"/>
          </a:xfrm>
          <a:prstGeom prst="roundRect">
            <a:avLst>
              <a:gd name="adj" fmla="val 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9886002" y="167280"/>
            <a:ext cx="219600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1. المقدمة</a:t>
            </a:r>
            <a:endParaRPr lang="en-US" sz="2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5322A5-4B30-4A34-C876-03DB69C7C5DA}"/>
              </a:ext>
            </a:extLst>
          </p:cNvPr>
          <p:cNvSpPr txBox="1"/>
          <p:nvPr/>
        </p:nvSpPr>
        <p:spPr>
          <a:xfrm>
            <a:off x="6467475" y="1967620"/>
            <a:ext cx="4752974" cy="379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آلية التطبيق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حساب الفواتير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نظام الدفع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تطبيق أنماط التصميم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محاكاة تعليمية</a:t>
            </a:r>
            <a:endParaRPr lang="en-US" sz="32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EC576B-F14C-8F79-0171-892CB743E839}"/>
              </a:ext>
            </a:extLst>
          </p:cNvPr>
          <p:cNvSpPr txBox="1"/>
          <p:nvPr/>
        </p:nvSpPr>
        <p:spPr>
          <a:xfrm>
            <a:off x="215900" y="1987604"/>
            <a:ext cx="5178725" cy="379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نظام فوترة مصغّر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Java + MVC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Design Patterns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Implemention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High Cohesion / Low Coupling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تطبيق تعليمي عملي</a:t>
            </a:r>
            <a:endParaRPr lang="en-US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1B0033-949E-ED93-4233-BDA9091E1CD6}"/>
              </a:ext>
            </a:extLst>
          </p:cNvPr>
          <p:cNvSpPr txBox="1"/>
          <p:nvPr/>
        </p:nvSpPr>
        <p:spPr>
          <a:xfrm>
            <a:off x="2267857" y="106577"/>
            <a:ext cx="4615543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2. أهداف المشروع</a:t>
            </a:r>
          </a:p>
        </p:txBody>
      </p:sp>
    </p:spTree>
    <p:extLst>
      <p:ext uri="{BB962C8B-B14F-4D97-AF65-F5344CB8AC3E}">
        <p14:creationId xmlns:p14="http://schemas.microsoft.com/office/powerpoint/2010/main" val="2676661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-1" y="0"/>
            <a:ext cx="6096000" cy="6925511"/>
          </a:xfrm>
          <a:prstGeom prst="roundRect">
            <a:avLst>
              <a:gd name="adj" fmla="val 0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13C6F-06B2-94A4-DE52-9F4815EABC66}"/>
              </a:ext>
            </a:extLst>
          </p:cNvPr>
          <p:cNvSpPr txBox="1"/>
          <p:nvPr/>
        </p:nvSpPr>
        <p:spPr>
          <a:xfrm>
            <a:off x="2267857" y="106577"/>
            <a:ext cx="4615543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2. أهداف المشروع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03E097-CFC2-4BD9-42C2-BCC0C3BC2A03}"/>
              </a:ext>
            </a:extLst>
          </p:cNvPr>
          <p:cNvSpPr txBox="1"/>
          <p:nvPr/>
        </p:nvSpPr>
        <p:spPr>
          <a:xfrm>
            <a:off x="215900" y="1987604"/>
            <a:ext cx="5178725" cy="379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نظام فوترة مصغّر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Java + MVC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Design Patterns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Implemention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High Cohesion / Low Coupling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تطبيق تعليمي عملي</a:t>
            </a:r>
            <a:endParaRPr lang="en-US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818B60-1671-16C0-C464-B6DF26F9D36F}"/>
              </a:ext>
            </a:extLst>
          </p:cNvPr>
          <p:cNvSpPr txBox="1"/>
          <p:nvPr/>
        </p:nvSpPr>
        <p:spPr>
          <a:xfrm>
            <a:off x="7531099" y="-764074"/>
            <a:ext cx="445769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3. نظرة عامة على النظام</a:t>
            </a:r>
            <a:endParaRPr lang="en-US" sz="2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86313-51B5-964C-0DAF-61A09996B3DE}"/>
              </a:ext>
            </a:extLst>
          </p:cNvPr>
          <p:cNvSpPr txBox="1"/>
          <p:nvPr/>
        </p:nvSpPr>
        <p:spPr>
          <a:xfrm>
            <a:off x="9886002" y="167280"/>
            <a:ext cx="219600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1. المقدمة</a:t>
            </a:r>
            <a:endParaRPr lang="en-US" sz="2800" b="1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FE585-07B1-A8B8-9C07-D2BA08B99738}"/>
              </a:ext>
            </a:extLst>
          </p:cNvPr>
          <p:cNvSpPr txBox="1"/>
          <p:nvPr/>
        </p:nvSpPr>
        <p:spPr>
          <a:xfrm>
            <a:off x="6467475" y="1967620"/>
            <a:ext cx="4752974" cy="3797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آلية التطبيق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حساب الفواتير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نظام الدفع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تطبيق أنماط التصميم</a:t>
            </a: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171450" indent="-171450" algn="justLow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محاكاة تعليمية</a:t>
            </a:r>
            <a:endParaRPr lang="en-US" sz="32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95183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5322A5-4B30-4A34-C876-03DB69C7C5DA}"/>
              </a:ext>
            </a:extLst>
          </p:cNvPr>
          <p:cNvSpPr txBox="1"/>
          <p:nvPr/>
        </p:nvSpPr>
        <p:spPr>
          <a:xfrm>
            <a:off x="12859662" y="2689639"/>
            <a:ext cx="6096000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يهدف المشروع إلى تصميم نظام مصغّر لمحاكاة قراءة عدادات الكهرباء والفوترة.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LY" sz="20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يتيح النظام للمستخدمين إدخال القراءات، توليد الفواتير، وإجراء عمليات الدفع.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13C6F-06B2-94A4-DE52-9F4815EABC66}"/>
              </a:ext>
            </a:extLst>
          </p:cNvPr>
          <p:cNvSpPr txBox="1"/>
          <p:nvPr/>
        </p:nvSpPr>
        <p:spPr>
          <a:xfrm>
            <a:off x="-5961743" y="594328"/>
            <a:ext cx="4615543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2. أهداف المشروع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7246257" y="222893"/>
            <a:ext cx="445769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3. نظرة عامة على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30889-BBAA-C8A9-8365-927554D5948F}"/>
              </a:ext>
            </a:extLst>
          </p:cNvPr>
          <p:cNvSpPr txBox="1"/>
          <p:nvPr/>
        </p:nvSpPr>
        <p:spPr>
          <a:xfrm>
            <a:off x="-10111168" y="1403155"/>
            <a:ext cx="5631543" cy="550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تصميم وتنفيذ نظام فوترة مصغّر باستخدام لغة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Java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LY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 تطبيق نمط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 MVC 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لتحقيق فصل واضح بين مكوّنات النظام.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الاستخدام العملي لعدة أنماط تصميم برمجية داخل مشروع واحد.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تحسين تنظيم الكود من خلال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High Cohesion 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و </a:t>
            </a:r>
            <a:endParaRPr lang="en-US" sz="20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Low Coupling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LY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ربط مفاهيم أنماط التصميم بتطبيق عملي لأغراض تعليمية.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3AACB5E-86C9-08BF-592C-C92234E1C903}"/>
              </a:ext>
            </a:extLst>
          </p:cNvPr>
          <p:cNvGrpSpPr/>
          <p:nvPr/>
        </p:nvGrpSpPr>
        <p:grpSpPr>
          <a:xfrm>
            <a:off x="4925790" y="1354558"/>
            <a:ext cx="5881007" cy="487035"/>
            <a:chOff x="5448301" y="1528730"/>
            <a:chExt cx="5881007" cy="48703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B4E51D-2801-8149-096E-981895F590B4}"/>
                </a:ext>
              </a:extLst>
            </p:cNvPr>
            <p:cNvSpPr txBox="1"/>
            <p:nvPr/>
          </p:nvSpPr>
          <p:spPr>
            <a:xfrm>
              <a:off x="5448301" y="1528730"/>
              <a:ext cx="54809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 يحاكي نظام فوترة كهربائية مبسطة.</a:t>
              </a:r>
              <a:r>
                <a:rPr lang="en-US" dirty="0">
                  <a:latin typeface="Cairo" pitchFamily="2" charset="-78"/>
                  <a:cs typeface="Cairo" pitchFamily="2" charset="-78"/>
                </a:rPr>
                <a:t>Java Console</a:t>
              </a:r>
              <a:r>
                <a:rPr lang="ar-LY" dirty="0">
                  <a:latin typeface="Cairo" pitchFamily="2" charset="-78"/>
                  <a:cs typeface="Cairo" pitchFamily="2" charset="-78"/>
                </a:rPr>
                <a:t> تطبيق </a:t>
              </a:r>
            </a:p>
          </p:txBody>
        </p:sp>
        <p:pic>
          <p:nvPicPr>
            <p:cNvPr id="14" name="Picture 13" descr="A black and white square with white arrows&#10;&#10;AI-generated content may be incorrect.">
              <a:extLst>
                <a:ext uri="{FF2B5EF4-FFF2-40B4-BE49-F238E27FC236}">
                  <a16:creationId xmlns:a16="http://schemas.microsoft.com/office/drawing/2014/main" id="{02807A1B-42D0-DCAF-A9B2-9BC24BDDC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72108" y="1558565"/>
              <a:ext cx="457200" cy="4572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B5B758-442F-757B-F977-D454AB08F577}"/>
              </a:ext>
            </a:extLst>
          </p:cNvPr>
          <p:cNvGrpSpPr/>
          <p:nvPr/>
        </p:nvGrpSpPr>
        <p:grpSpPr>
          <a:xfrm>
            <a:off x="4005041" y="2192332"/>
            <a:ext cx="6801756" cy="526335"/>
            <a:chOff x="4527552" y="2366504"/>
            <a:chExt cx="6801756" cy="52633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8CD178-91D0-04DE-78BA-D099A6179EB3}"/>
                </a:ext>
              </a:extLst>
            </p:cNvPr>
            <p:cNvSpPr txBox="1"/>
            <p:nvPr/>
          </p:nvSpPr>
          <p:spPr>
            <a:xfrm>
              <a:off x="4527552" y="2366504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يتيح للمستخدم إدخال قراءات العدادات وحساب فواتير الكهرباء.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73B9985-C46E-685A-38A1-EE7AC308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2435639"/>
              <a:ext cx="457200" cy="4572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D6C5E6B-46EE-34E8-8FC3-13FB165FC6C3}"/>
              </a:ext>
            </a:extLst>
          </p:cNvPr>
          <p:cNvGrpSpPr/>
          <p:nvPr/>
        </p:nvGrpSpPr>
        <p:grpSpPr>
          <a:xfrm>
            <a:off x="4005041" y="3055637"/>
            <a:ext cx="6801756" cy="526335"/>
            <a:chOff x="4527552" y="3255209"/>
            <a:chExt cx="6801756" cy="52633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74C7DC-16BA-632D-A3B5-4980C0584019}"/>
                </a:ext>
              </a:extLst>
            </p:cNvPr>
            <p:cNvSpPr txBox="1"/>
            <p:nvPr/>
          </p:nvSpPr>
          <p:spPr>
            <a:xfrm>
              <a:off x="4527552" y="3255209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يدعم تنفيذ عمليات الدفع وتسجيل المعاملات المالية.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6D6AF31-6A16-75FC-F6C5-515C2CDDD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3324344"/>
              <a:ext cx="457200" cy="4572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ACDFA5-1CB3-6C44-5FED-711346232C07}"/>
              </a:ext>
            </a:extLst>
          </p:cNvPr>
          <p:cNvGrpSpPr/>
          <p:nvPr/>
        </p:nvGrpSpPr>
        <p:grpSpPr>
          <a:xfrm>
            <a:off x="4005041" y="3926945"/>
            <a:ext cx="6801756" cy="526335"/>
            <a:chOff x="4527552" y="4101117"/>
            <a:chExt cx="6801756" cy="52633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8EA049-0639-1061-176E-D9A7FFB2D2DC}"/>
                </a:ext>
              </a:extLst>
            </p:cNvPr>
            <p:cNvSpPr txBox="1"/>
            <p:nvPr/>
          </p:nvSpPr>
          <p:spPr>
            <a:xfrm>
              <a:off x="4527552" y="4101117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يوفّر إمكانية تقديم تقارير عن الأعطال أو الخدمات.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013B2C6-92A8-31FC-9FA2-0DA1E2936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4170252"/>
              <a:ext cx="457200" cy="4572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1A0364F-124E-4FA1-EE90-CCFE1CB0FDE0}"/>
              </a:ext>
            </a:extLst>
          </p:cNvPr>
          <p:cNvGrpSpPr/>
          <p:nvPr/>
        </p:nvGrpSpPr>
        <p:grpSpPr>
          <a:xfrm>
            <a:off x="4005041" y="4752445"/>
            <a:ext cx="6801756" cy="526335"/>
            <a:chOff x="4527552" y="4926617"/>
            <a:chExt cx="6801756" cy="52633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9E6FE24-0CC4-9F22-B642-86DDE03CDC81}"/>
                </a:ext>
              </a:extLst>
            </p:cNvPr>
            <p:cNvSpPr txBox="1"/>
            <p:nvPr/>
          </p:nvSpPr>
          <p:spPr>
            <a:xfrm>
              <a:off x="4527552" y="4926617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.</a:t>
              </a:r>
              <a:r>
                <a:rPr lang="en-US" dirty="0">
                  <a:latin typeface="Cairo" pitchFamily="2" charset="-78"/>
                  <a:cs typeface="Cairo" pitchFamily="2" charset="-78"/>
                </a:rPr>
                <a:t>Admin &amp; User</a:t>
              </a:r>
              <a:r>
                <a:rPr lang="ar-LY" dirty="0">
                  <a:latin typeface="Cairo" pitchFamily="2" charset="-78"/>
                  <a:cs typeface="Cairo" pitchFamily="2" charset="-78"/>
                </a:rPr>
                <a:t>يدعم دورين رئيسيين في النظام: </a:t>
              </a:r>
              <a:endParaRPr lang="en-US" dirty="0">
                <a:latin typeface="Cairo" pitchFamily="2" charset="-78"/>
                <a:cs typeface="Cairo" pitchFamily="2" charset="-78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212ACD4-CC7B-E542-8F51-CD46496C0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4995752"/>
              <a:ext cx="457200" cy="4572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5B55B6-A2A0-B32A-B907-1232CB128F22}"/>
              </a:ext>
            </a:extLst>
          </p:cNvPr>
          <p:cNvGrpSpPr/>
          <p:nvPr/>
        </p:nvGrpSpPr>
        <p:grpSpPr>
          <a:xfrm>
            <a:off x="4718053" y="5450945"/>
            <a:ext cx="6180184" cy="1304203"/>
            <a:chOff x="5240564" y="5625117"/>
            <a:chExt cx="6180184" cy="130420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4D4199-8466-7710-F2E1-8581CCF6C4B5}"/>
                </a:ext>
              </a:extLst>
            </p:cNvPr>
            <p:cNvSpPr txBox="1"/>
            <p:nvPr/>
          </p:nvSpPr>
          <p:spPr>
            <a:xfrm>
              <a:off x="5240564" y="5625117"/>
              <a:ext cx="5631543" cy="1304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dirty="0">
                  <a:latin typeface="Cairo" pitchFamily="2" charset="-78"/>
                  <a:cs typeface="Cairo" pitchFamily="2" charset="-78"/>
                </a:rPr>
                <a:t>Model–View–Controller (MVC) </a:t>
              </a:r>
              <a:r>
                <a:rPr lang="ar-LY" dirty="0">
                  <a:latin typeface="Cairo" pitchFamily="2" charset="-78"/>
                  <a:cs typeface="Cairo" pitchFamily="2" charset="-78"/>
                </a:rPr>
                <a:t>صُمم باستخدام معمارية مع تطبيق عدة أنماط تصميم برمجية.</a:t>
              </a:r>
            </a:p>
            <a:p>
              <a:pPr algn="r">
                <a:lnSpc>
                  <a:spcPct val="150000"/>
                </a:lnSpc>
              </a:pPr>
              <a:endParaRPr lang="ar-LY" dirty="0">
                <a:latin typeface="Cairo" pitchFamily="2" charset="-78"/>
                <a:cs typeface="Cairo" pitchFamily="2" charset="-78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01B802FA-BFFE-9600-6B6B-BA8708BF9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780668" y="5776862"/>
              <a:ext cx="640080" cy="640080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EE7C800-E597-EE6A-71AE-D4F73D4E73C7}"/>
              </a:ext>
            </a:extLst>
          </p:cNvPr>
          <p:cNvSpPr txBox="1"/>
          <p:nvPr/>
        </p:nvSpPr>
        <p:spPr>
          <a:xfrm>
            <a:off x="7400242" y="-5749964"/>
            <a:ext cx="445769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4. مخطط حالة الاستخدام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44017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5322A5-4B30-4A34-C876-03DB69C7C5DA}"/>
              </a:ext>
            </a:extLst>
          </p:cNvPr>
          <p:cNvSpPr txBox="1"/>
          <p:nvPr/>
        </p:nvSpPr>
        <p:spPr>
          <a:xfrm>
            <a:off x="12859662" y="2689639"/>
            <a:ext cx="6096000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يهدف المشروع إلى تصميم نظام مصغّر لمحاكاة قراءة عدادات الكهرباء والفوترة.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LY" sz="20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يتيح النظام للمستخدمين إدخال القراءات، توليد الفواتير، وإجراء عمليات الدفع.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13C6F-06B2-94A4-DE52-9F4815EABC66}"/>
              </a:ext>
            </a:extLst>
          </p:cNvPr>
          <p:cNvSpPr txBox="1"/>
          <p:nvPr/>
        </p:nvSpPr>
        <p:spPr>
          <a:xfrm>
            <a:off x="-5961743" y="594328"/>
            <a:ext cx="4615543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2. أهداف المشروع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7246257" y="222893"/>
            <a:ext cx="445769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4. مخطط حالة الاستخدام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30889-BBAA-C8A9-8365-927554D5948F}"/>
              </a:ext>
            </a:extLst>
          </p:cNvPr>
          <p:cNvSpPr txBox="1"/>
          <p:nvPr/>
        </p:nvSpPr>
        <p:spPr>
          <a:xfrm>
            <a:off x="-10111168" y="1403155"/>
            <a:ext cx="5631543" cy="550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تصميم وتنفيذ نظام فوترة مصغّر باستخدام لغة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Java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LY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 تطبيق نمط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 MVC 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لتحقيق فصل واضح بين مكوّنات النظام.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الاستخدام العملي لعدة أنماط تصميم برمجية داخل مشروع واحد.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تحسين تنظيم الكود من خلال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High Cohesion 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و </a:t>
            </a:r>
            <a:endParaRPr lang="en-US" sz="20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Low Coupling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LY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ربط مفاهيم أنماط التصميم بتطبيق عملي لأغراض تعليمية.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2D7E214-EB75-DF63-D0D2-9B83229DC1DA}"/>
              </a:ext>
            </a:extLst>
          </p:cNvPr>
          <p:cNvGrpSpPr/>
          <p:nvPr/>
        </p:nvGrpSpPr>
        <p:grpSpPr>
          <a:xfrm>
            <a:off x="13525501" y="1528730"/>
            <a:ext cx="5881007" cy="487035"/>
            <a:chOff x="5448301" y="1528730"/>
            <a:chExt cx="5881007" cy="48703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91568C-DA21-293D-7CA0-852078255D9B}"/>
                </a:ext>
              </a:extLst>
            </p:cNvPr>
            <p:cNvSpPr txBox="1"/>
            <p:nvPr/>
          </p:nvSpPr>
          <p:spPr>
            <a:xfrm>
              <a:off x="5448301" y="1528730"/>
              <a:ext cx="54809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 يحاكي نظام فوترة كهربائية مبسطة.</a:t>
              </a:r>
              <a:r>
                <a:rPr lang="en-US" dirty="0">
                  <a:latin typeface="Cairo" pitchFamily="2" charset="-78"/>
                  <a:cs typeface="Cairo" pitchFamily="2" charset="-78"/>
                </a:rPr>
                <a:t>Java Console</a:t>
              </a:r>
              <a:r>
                <a:rPr lang="ar-LY" dirty="0">
                  <a:latin typeface="Cairo" pitchFamily="2" charset="-78"/>
                  <a:cs typeface="Cairo" pitchFamily="2" charset="-78"/>
                </a:rPr>
                <a:t> تطبيق </a:t>
              </a:r>
            </a:p>
          </p:txBody>
        </p:sp>
        <p:pic>
          <p:nvPicPr>
            <p:cNvPr id="10" name="Picture 9" descr="A black and white square with white arrows&#10;&#10;AI-generated content may be incorrect.">
              <a:extLst>
                <a:ext uri="{FF2B5EF4-FFF2-40B4-BE49-F238E27FC236}">
                  <a16:creationId xmlns:a16="http://schemas.microsoft.com/office/drawing/2014/main" id="{8A467398-DCE6-31B0-D78F-56C892FF6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72108" y="1558565"/>
              <a:ext cx="457200" cy="4572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75437C-1051-BF1B-A9B3-4CD846039367}"/>
              </a:ext>
            </a:extLst>
          </p:cNvPr>
          <p:cNvGrpSpPr/>
          <p:nvPr/>
        </p:nvGrpSpPr>
        <p:grpSpPr>
          <a:xfrm>
            <a:off x="17887952" y="2366504"/>
            <a:ext cx="6801756" cy="526335"/>
            <a:chOff x="4527552" y="2366504"/>
            <a:chExt cx="6801756" cy="52633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91DF0B-3090-DD9E-3845-636D972BBE7A}"/>
                </a:ext>
              </a:extLst>
            </p:cNvPr>
            <p:cNvSpPr txBox="1"/>
            <p:nvPr/>
          </p:nvSpPr>
          <p:spPr>
            <a:xfrm>
              <a:off x="4527552" y="2366504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يتيح للمستخدم إدخال قراءات العدادات وحساب فواتير الكهرباء.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D7AFAEF-0966-42C7-1032-B88985F29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2435639"/>
              <a:ext cx="457200" cy="4572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506DE4-1E0A-6B81-A1B1-849147FD69BA}"/>
              </a:ext>
            </a:extLst>
          </p:cNvPr>
          <p:cNvGrpSpPr/>
          <p:nvPr/>
        </p:nvGrpSpPr>
        <p:grpSpPr>
          <a:xfrm>
            <a:off x="20427952" y="3229809"/>
            <a:ext cx="6801756" cy="526335"/>
            <a:chOff x="4527552" y="3255209"/>
            <a:chExt cx="6801756" cy="52633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12C617-5D16-3E88-F1BB-B9C201DA787C}"/>
                </a:ext>
              </a:extLst>
            </p:cNvPr>
            <p:cNvSpPr txBox="1"/>
            <p:nvPr/>
          </p:nvSpPr>
          <p:spPr>
            <a:xfrm>
              <a:off x="4527552" y="3255209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يدعم تنفيذ عمليات الدفع وتسجيل المعاملات المالية.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2ECFD78-EE57-4B41-52AE-1557BBE59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3324344"/>
              <a:ext cx="457200" cy="45720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6B495E5-A600-4096-4456-50EAEA913AFF}"/>
              </a:ext>
            </a:extLst>
          </p:cNvPr>
          <p:cNvGrpSpPr/>
          <p:nvPr/>
        </p:nvGrpSpPr>
        <p:grpSpPr>
          <a:xfrm>
            <a:off x="21634452" y="4101117"/>
            <a:ext cx="6801756" cy="526335"/>
            <a:chOff x="4527552" y="4101117"/>
            <a:chExt cx="6801756" cy="52633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ED54BD-8F59-8E2D-418F-0CED62A62333}"/>
                </a:ext>
              </a:extLst>
            </p:cNvPr>
            <p:cNvSpPr txBox="1"/>
            <p:nvPr/>
          </p:nvSpPr>
          <p:spPr>
            <a:xfrm>
              <a:off x="4527552" y="4101117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يوفّر إمكانية تقديم تقارير عن الأعطال أو الخدمات.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1BD3252-E13A-4ACB-532F-17BABFAB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4170252"/>
              <a:ext cx="457200" cy="4572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454B445-5EF6-D86F-8711-608E30E07C93}"/>
              </a:ext>
            </a:extLst>
          </p:cNvPr>
          <p:cNvGrpSpPr/>
          <p:nvPr/>
        </p:nvGrpSpPr>
        <p:grpSpPr>
          <a:xfrm>
            <a:off x="21932902" y="4926617"/>
            <a:ext cx="6801756" cy="526335"/>
            <a:chOff x="4527552" y="4926617"/>
            <a:chExt cx="6801756" cy="52633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2093031-0E9D-4D40-F99D-D96FF7F66903}"/>
                </a:ext>
              </a:extLst>
            </p:cNvPr>
            <p:cNvSpPr txBox="1"/>
            <p:nvPr/>
          </p:nvSpPr>
          <p:spPr>
            <a:xfrm>
              <a:off x="4527552" y="4926617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.</a:t>
              </a:r>
              <a:r>
                <a:rPr lang="en-US" dirty="0">
                  <a:latin typeface="Cairo" pitchFamily="2" charset="-78"/>
                  <a:cs typeface="Cairo" pitchFamily="2" charset="-78"/>
                </a:rPr>
                <a:t>Admin &amp; User</a:t>
              </a:r>
              <a:r>
                <a:rPr lang="ar-LY" dirty="0">
                  <a:latin typeface="Cairo" pitchFamily="2" charset="-78"/>
                  <a:cs typeface="Cairo" pitchFamily="2" charset="-78"/>
                </a:rPr>
                <a:t>يدعم دورين رئيسيين في النظام: </a:t>
              </a:r>
              <a:endParaRPr lang="en-US" dirty="0">
                <a:latin typeface="Cairo" pitchFamily="2" charset="-78"/>
                <a:cs typeface="Cairo" pitchFamily="2" charset="-78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7430068-F939-1E5D-1FC9-F65C72A9C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4995752"/>
              <a:ext cx="457200" cy="4572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568907-76B6-3123-6898-7FC99ED06DD2}"/>
              </a:ext>
            </a:extLst>
          </p:cNvPr>
          <p:cNvGrpSpPr/>
          <p:nvPr/>
        </p:nvGrpSpPr>
        <p:grpSpPr>
          <a:xfrm>
            <a:off x="24481064" y="5625117"/>
            <a:ext cx="6180184" cy="1304203"/>
            <a:chOff x="5240564" y="5625117"/>
            <a:chExt cx="6180184" cy="130420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1F8D38D-8EC8-B0F3-A380-542D06C598C6}"/>
                </a:ext>
              </a:extLst>
            </p:cNvPr>
            <p:cNvSpPr txBox="1"/>
            <p:nvPr/>
          </p:nvSpPr>
          <p:spPr>
            <a:xfrm>
              <a:off x="5240564" y="5625117"/>
              <a:ext cx="5631543" cy="1304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dirty="0">
                  <a:latin typeface="Cairo" pitchFamily="2" charset="-78"/>
                  <a:cs typeface="Cairo" pitchFamily="2" charset="-78"/>
                </a:rPr>
                <a:t>Model–View–Controller (MVC) </a:t>
              </a:r>
              <a:r>
                <a:rPr lang="ar-LY" dirty="0">
                  <a:latin typeface="Cairo" pitchFamily="2" charset="-78"/>
                  <a:cs typeface="Cairo" pitchFamily="2" charset="-78"/>
                </a:rPr>
                <a:t>صُمم باستخدام معمارية مع تطبيق عدة أنماط تصميم برمجية.</a:t>
              </a:r>
            </a:p>
            <a:p>
              <a:pPr algn="r">
                <a:lnSpc>
                  <a:spcPct val="150000"/>
                </a:lnSpc>
              </a:pPr>
              <a:endParaRPr lang="ar-LY" dirty="0">
                <a:latin typeface="Cairo" pitchFamily="2" charset="-78"/>
                <a:cs typeface="Cairo" pitchFamily="2" charset="-78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58463C2-7FE2-6779-CB11-D430EC672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780668" y="5821252"/>
              <a:ext cx="640080" cy="640080"/>
            </a:xfrm>
            <a:prstGeom prst="rect">
              <a:avLst/>
            </a:prstGeom>
          </p:spPr>
        </p:pic>
      </p:grpSp>
      <p:pic>
        <p:nvPicPr>
          <p:cNvPr id="45" name="Picture 44" descr="A close-up of a diagram">
            <a:extLst>
              <a:ext uri="{FF2B5EF4-FFF2-40B4-BE49-F238E27FC236}">
                <a16:creationId xmlns:a16="http://schemas.microsoft.com/office/drawing/2014/main" id="{F335A04D-C649-3D43-58EA-6D55C1782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520" y="2136378"/>
            <a:ext cx="7680960" cy="449264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7279708" y="-4161324"/>
            <a:ext cx="445769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3. نظرة عامة على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4F6279-85C0-F4BF-CC0E-40EE846D42F4}"/>
              </a:ext>
            </a:extLst>
          </p:cNvPr>
          <p:cNvSpPr txBox="1"/>
          <p:nvPr/>
        </p:nvSpPr>
        <p:spPr>
          <a:xfrm>
            <a:off x="646119" y="1046614"/>
            <a:ext cx="104622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sz="1600" dirty="0">
                <a:latin typeface="Cairo" pitchFamily="2" charset="-78"/>
                <a:cs typeface="Cairo" pitchFamily="2" charset="-78"/>
              </a:rPr>
              <a:t> </a:t>
            </a:r>
            <a:r>
              <a:rPr lang="ar-LY" sz="1600" dirty="0">
                <a:latin typeface="Cairo" pitchFamily="2" charset="-78"/>
                <a:cs typeface="Cairo" pitchFamily="2" charset="-78"/>
              </a:rPr>
              <a:t>يوضح الشكل التالي مخطط حالات الاستخدام </a:t>
            </a:r>
            <a:r>
              <a:rPr lang="en-US" sz="1600" dirty="0">
                <a:latin typeface="Cairo" pitchFamily="2" charset="-78"/>
                <a:cs typeface="Cairo" pitchFamily="2" charset="-78"/>
              </a:rPr>
              <a:t>(Use Case Diagram)</a:t>
            </a:r>
            <a:r>
              <a:rPr lang="ar-LY" sz="1600" dirty="0">
                <a:latin typeface="Cairo" pitchFamily="2" charset="-78"/>
                <a:cs typeface="Cairo" pitchFamily="2" charset="-78"/>
              </a:rPr>
              <a:t> التفاعلات الرئيسية بين المستخدم والمشرف مع النظام ويبيّن الوظائف الأساسية التي يدعمها نظام قراءة العدادات والفوترة.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95F1A98-54FD-6646-645E-33C095159EA9}"/>
              </a:ext>
            </a:extLst>
          </p:cNvPr>
          <p:cNvSpPr txBox="1"/>
          <p:nvPr/>
        </p:nvSpPr>
        <p:spPr>
          <a:xfrm>
            <a:off x="6572544" y="-3919122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(MVC + Layers) 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5. بنية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84989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5322A5-4B30-4A34-C876-03DB69C7C5DA}"/>
              </a:ext>
            </a:extLst>
          </p:cNvPr>
          <p:cNvSpPr txBox="1"/>
          <p:nvPr/>
        </p:nvSpPr>
        <p:spPr>
          <a:xfrm>
            <a:off x="12859662" y="2689639"/>
            <a:ext cx="6096000" cy="2362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يهدف المشروع إلى تصميم نظام مصغّر لمحاكاة قراءة عدادات الكهرباء والفوترة.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LY" sz="20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يتيح النظام للمستخدمين إدخال القراءات، توليد الفواتير، وإجراء عمليات الدفع.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13C6F-06B2-94A4-DE52-9F4815EABC66}"/>
              </a:ext>
            </a:extLst>
          </p:cNvPr>
          <p:cNvSpPr txBox="1"/>
          <p:nvPr/>
        </p:nvSpPr>
        <p:spPr>
          <a:xfrm>
            <a:off x="-5961743" y="594328"/>
            <a:ext cx="4615543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2. أهداف المشروع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7246257" y="-3917307"/>
            <a:ext cx="445769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4. مخطط حالة الاستخدام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30889-BBAA-C8A9-8365-927554D5948F}"/>
              </a:ext>
            </a:extLst>
          </p:cNvPr>
          <p:cNvSpPr txBox="1"/>
          <p:nvPr/>
        </p:nvSpPr>
        <p:spPr>
          <a:xfrm>
            <a:off x="-10111168" y="1403155"/>
            <a:ext cx="5631543" cy="5501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تصميم وتنفيذ نظام فوترة مصغّر باستخدام لغة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Java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LY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 تطبيق نمط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 MVC 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لتحقيق فصل واضح بين مكوّنات النظام.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الاستخدام العملي لعدة أنماط تصميم برمجية داخل مشروع واحد.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تحسين تنظيم الكود من خلال 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High Cohesion 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و </a:t>
            </a:r>
            <a:endParaRPr lang="en-US" sz="20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Low Coupling</a:t>
            </a: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.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LY" sz="800" b="0" i="0" dirty="0">
              <a:solidFill>
                <a:schemeClr val="bg1"/>
              </a:solidFill>
              <a:effectLst/>
              <a:latin typeface="Cairo" pitchFamily="2" charset="-78"/>
              <a:cs typeface="Cairo" pitchFamily="2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LY" sz="2000" b="0" i="0" dirty="0">
                <a:solidFill>
                  <a:schemeClr val="bg1"/>
                </a:solidFill>
                <a:effectLst/>
                <a:latin typeface="Cairo" pitchFamily="2" charset="-78"/>
                <a:cs typeface="Cairo" pitchFamily="2" charset="-78"/>
              </a:rPr>
              <a:t>ربط مفاهيم أنماط التصميم بتطبيق عملي لأغراض تعليمية.</a:t>
            </a:r>
            <a:endParaRPr lang="en-US" sz="2000" dirty="0">
              <a:solidFill>
                <a:schemeClr val="bg1"/>
              </a:solidFill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2D7E214-EB75-DF63-D0D2-9B83229DC1DA}"/>
              </a:ext>
            </a:extLst>
          </p:cNvPr>
          <p:cNvGrpSpPr/>
          <p:nvPr/>
        </p:nvGrpSpPr>
        <p:grpSpPr>
          <a:xfrm>
            <a:off x="13525501" y="1528730"/>
            <a:ext cx="5881007" cy="487035"/>
            <a:chOff x="5448301" y="1528730"/>
            <a:chExt cx="5881007" cy="48703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91568C-DA21-293D-7CA0-852078255D9B}"/>
                </a:ext>
              </a:extLst>
            </p:cNvPr>
            <p:cNvSpPr txBox="1"/>
            <p:nvPr/>
          </p:nvSpPr>
          <p:spPr>
            <a:xfrm>
              <a:off x="5448301" y="1528730"/>
              <a:ext cx="54809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 يحاكي نظام فوترة كهربائية مبسطة</a:t>
              </a:r>
              <a:r>
                <a:rPr lang="en-US" dirty="0">
                  <a:latin typeface="Cairo" pitchFamily="2" charset="-78"/>
                  <a:cs typeface="Cairo" pitchFamily="2" charset="-78"/>
                </a:rPr>
                <a:t>Java Console</a:t>
              </a:r>
              <a:r>
                <a:rPr lang="ar-LY" dirty="0">
                  <a:latin typeface="Cairo" pitchFamily="2" charset="-78"/>
                  <a:cs typeface="Cairo" pitchFamily="2" charset="-78"/>
                </a:rPr>
                <a:t> تطبيق </a:t>
              </a:r>
            </a:p>
          </p:txBody>
        </p:sp>
        <p:pic>
          <p:nvPicPr>
            <p:cNvPr id="10" name="Picture 9" descr="A black and white square with white arrows&#10;&#10;AI-generated content may be incorrect.">
              <a:extLst>
                <a:ext uri="{FF2B5EF4-FFF2-40B4-BE49-F238E27FC236}">
                  <a16:creationId xmlns:a16="http://schemas.microsoft.com/office/drawing/2014/main" id="{8A467398-DCE6-31B0-D78F-56C892FF6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72108" y="1558565"/>
              <a:ext cx="457200" cy="4572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75437C-1051-BF1B-A9B3-4CD846039367}"/>
              </a:ext>
            </a:extLst>
          </p:cNvPr>
          <p:cNvGrpSpPr/>
          <p:nvPr/>
        </p:nvGrpSpPr>
        <p:grpSpPr>
          <a:xfrm>
            <a:off x="17887952" y="2366504"/>
            <a:ext cx="6801756" cy="526335"/>
            <a:chOff x="4527552" y="2366504"/>
            <a:chExt cx="6801756" cy="52633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F91DF0B-3090-DD9E-3845-636D972BBE7A}"/>
                </a:ext>
              </a:extLst>
            </p:cNvPr>
            <p:cNvSpPr txBox="1"/>
            <p:nvPr/>
          </p:nvSpPr>
          <p:spPr>
            <a:xfrm>
              <a:off x="4527552" y="2366504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يتيح للمستخدم إدخال قراءات العدادات وحساب فواتير الكهرباء.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D7AFAEF-0966-42C7-1032-B88985F29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2435639"/>
              <a:ext cx="457200" cy="4572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506DE4-1E0A-6B81-A1B1-849147FD69BA}"/>
              </a:ext>
            </a:extLst>
          </p:cNvPr>
          <p:cNvGrpSpPr/>
          <p:nvPr/>
        </p:nvGrpSpPr>
        <p:grpSpPr>
          <a:xfrm>
            <a:off x="20427952" y="3229809"/>
            <a:ext cx="6801756" cy="526335"/>
            <a:chOff x="4527552" y="3255209"/>
            <a:chExt cx="6801756" cy="52633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12C617-5D16-3E88-F1BB-B9C201DA787C}"/>
                </a:ext>
              </a:extLst>
            </p:cNvPr>
            <p:cNvSpPr txBox="1"/>
            <p:nvPr/>
          </p:nvSpPr>
          <p:spPr>
            <a:xfrm>
              <a:off x="4527552" y="3255209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يدعم تنفيذ عمليات الدفع وتسجيل المعاملات المالية.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2ECFD78-EE57-4B41-52AE-1557BBE59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3324344"/>
              <a:ext cx="457200" cy="45720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6B495E5-A600-4096-4456-50EAEA913AFF}"/>
              </a:ext>
            </a:extLst>
          </p:cNvPr>
          <p:cNvGrpSpPr/>
          <p:nvPr/>
        </p:nvGrpSpPr>
        <p:grpSpPr>
          <a:xfrm>
            <a:off x="21634452" y="4101117"/>
            <a:ext cx="6801756" cy="526335"/>
            <a:chOff x="4527552" y="4101117"/>
            <a:chExt cx="6801756" cy="52633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ED54BD-8F59-8E2D-418F-0CED62A62333}"/>
                </a:ext>
              </a:extLst>
            </p:cNvPr>
            <p:cNvSpPr txBox="1"/>
            <p:nvPr/>
          </p:nvSpPr>
          <p:spPr>
            <a:xfrm>
              <a:off x="4527552" y="4101117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ar-LY" dirty="0">
                  <a:latin typeface="Cairo" pitchFamily="2" charset="-78"/>
                  <a:cs typeface="Cairo" pitchFamily="2" charset="-78"/>
                </a:rPr>
                <a:t>يوفّر إمكانية تقديم تقارير عن الأعطال أو الخدمات.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1BD3252-E13A-4ACB-532F-17BABFABC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4170252"/>
              <a:ext cx="457200" cy="4572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454B445-5EF6-D86F-8711-608E30E07C93}"/>
              </a:ext>
            </a:extLst>
          </p:cNvPr>
          <p:cNvGrpSpPr/>
          <p:nvPr/>
        </p:nvGrpSpPr>
        <p:grpSpPr>
          <a:xfrm>
            <a:off x="21932902" y="4926617"/>
            <a:ext cx="6801756" cy="526335"/>
            <a:chOff x="4527552" y="4926617"/>
            <a:chExt cx="6801756" cy="52633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2093031-0E9D-4D40-F99D-D96FF7F66903}"/>
                </a:ext>
              </a:extLst>
            </p:cNvPr>
            <p:cNvSpPr txBox="1"/>
            <p:nvPr/>
          </p:nvSpPr>
          <p:spPr>
            <a:xfrm>
              <a:off x="4527552" y="4926617"/>
              <a:ext cx="6344556" cy="4732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dirty="0">
                  <a:latin typeface="Cairo" pitchFamily="2" charset="-78"/>
                  <a:cs typeface="Cairo" pitchFamily="2" charset="-78"/>
                </a:rPr>
                <a:t>Admin &amp; User</a:t>
              </a:r>
              <a:r>
                <a:rPr lang="ar-LY" dirty="0">
                  <a:latin typeface="Cairo" pitchFamily="2" charset="-78"/>
                  <a:cs typeface="Cairo" pitchFamily="2" charset="-78"/>
                </a:rPr>
                <a:t>يدعم دورين رئيسيين في النظام: </a:t>
              </a:r>
              <a:endParaRPr lang="en-US" dirty="0">
                <a:latin typeface="Cairo" pitchFamily="2" charset="-78"/>
                <a:cs typeface="Cairo" pitchFamily="2" charset="-78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B7430068-F939-1E5D-1FC9-F65C72A9C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72108" y="4995752"/>
              <a:ext cx="457200" cy="4572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568907-76B6-3123-6898-7FC99ED06DD2}"/>
              </a:ext>
            </a:extLst>
          </p:cNvPr>
          <p:cNvGrpSpPr/>
          <p:nvPr/>
        </p:nvGrpSpPr>
        <p:grpSpPr>
          <a:xfrm>
            <a:off x="24481064" y="5625117"/>
            <a:ext cx="6180184" cy="1304203"/>
            <a:chOff x="5240564" y="5625117"/>
            <a:chExt cx="6180184" cy="130420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1F8D38D-8EC8-B0F3-A380-542D06C598C6}"/>
                </a:ext>
              </a:extLst>
            </p:cNvPr>
            <p:cNvSpPr txBox="1"/>
            <p:nvPr/>
          </p:nvSpPr>
          <p:spPr>
            <a:xfrm>
              <a:off x="5240564" y="5625117"/>
              <a:ext cx="5631543" cy="1304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dirty="0">
                  <a:latin typeface="Cairo" pitchFamily="2" charset="-78"/>
                  <a:cs typeface="Cairo" pitchFamily="2" charset="-78"/>
                </a:rPr>
                <a:t>Model–View–Controller (MVC) </a:t>
              </a:r>
              <a:r>
                <a:rPr lang="ar-LY" dirty="0">
                  <a:latin typeface="Cairo" pitchFamily="2" charset="-78"/>
                  <a:cs typeface="Cairo" pitchFamily="2" charset="-78"/>
                </a:rPr>
                <a:t>صُمم باستخدام معمارية مع تطبيق عدة أنماط تصميم برمجية.</a:t>
              </a:r>
            </a:p>
            <a:p>
              <a:pPr algn="r">
                <a:lnSpc>
                  <a:spcPct val="150000"/>
                </a:lnSpc>
              </a:pPr>
              <a:endParaRPr lang="ar-LY" dirty="0">
                <a:latin typeface="Cairo" pitchFamily="2" charset="-78"/>
                <a:cs typeface="Cairo" pitchFamily="2" charset="-78"/>
              </a:endParaRP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E58463C2-7FE2-6779-CB11-D430EC672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780668" y="5821252"/>
              <a:ext cx="640080" cy="640080"/>
            </a:xfrm>
            <a:prstGeom prst="rect">
              <a:avLst/>
            </a:prstGeom>
          </p:spPr>
        </p:pic>
      </p:grpSp>
      <p:pic>
        <p:nvPicPr>
          <p:cNvPr id="45" name="Picture 44" descr="A close-up of a diagram">
            <a:extLst>
              <a:ext uri="{FF2B5EF4-FFF2-40B4-BE49-F238E27FC236}">
                <a16:creationId xmlns:a16="http://schemas.microsoft.com/office/drawing/2014/main" id="{F335A04D-C649-3D43-58EA-6D55C1782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82324" y="1980062"/>
            <a:ext cx="7680960" cy="439216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214728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(MVC + Layers) 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5. بنية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4F6279-85C0-F4BF-CC0E-40EE846D42F4}"/>
              </a:ext>
            </a:extLst>
          </p:cNvPr>
          <p:cNvSpPr txBox="1"/>
          <p:nvPr/>
        </p:nvSpPr>
        <p:spPr>
          <a:xfrm>
            <a:off x="-18991725" y="961076"/>
            <a:ext cx="10462235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dirty="0">
                <a:latin typeface="Cairo" pitchFamily="2" charset="-78"/>
                <a:cs typeface="Cairo" pitchFamily="2" charset="-78"/>
              </a:rPr>
              <a:t> </a:t>
            </a:r>
            <a:r>
              <a:rPr lang="ar-LY" dirty="0">
                <a:latin typeface="Cairo" pitchFamily="2" charset="-78"/>
                <a:cs typeface="Cairo" pitchFamily="2" charset="-78"/>
              </a:rPr>
              <a:t>يوضح مخطط حالات الاستخدام </a:t>
            </a:r>
            <a:r>
              <a:rPr lang="en-US" dirty="0">
                <a:latin typeface="Cairo" pitchFamily="2" charset="-78"/>
                <a:cs typeface="Cairo" pitchFamily="2" charset="-78"/>
              </a:rPr>
              <a:t>(Use Case Diagram)</a:t>
            </a:r>
            <a:r>
              <a:rPr lang="ar-LY" dirty="0">
                <a:latin typeface="Cairo" pitchFamily="2" charset="-78"/>
                <a:cs typeface="Cairo" pitchFamily="2" charset="-78"/>
              </a:rPr>
              <a:t> التفاعلات الرئيسية بين المستخدم والمشرف مع النظام ويبيّن الوظائف الأساسية التي يدعمها نظام قراءة العدادات والفوترة.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2BF05D-1576-B4FA-7F38-50D967D54DAA}"/>
              </a:ext>
            </a:extLst>
          </p:cNvPr>
          <p:cNvSpPr txBox="1"/>
          <p:nvPr/>
        </p:nvSpPr>
        <p:spPr>
          <a:xfrm>
            <a:off x="-16636756" y="6382202"/>
            <a:ext cx="618982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LY" sz="1100" dirty="0">
                <a:latin typeface="Cairo" pitchFamily="2" charset="-78"/>
                <a:cs typeface="Cairo" pitchFamily="2" charset="-78"/>
              </a:rPr>
              <a:t>الشكل 1 يوضح مخطط حالات الاستخدام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0331F4-597E-9681-4BFE-BD09394123C8}"/>
              </a:ext>
            </a:extLst>
          </p:cNvPr>
          <p:cNvGrpSpPr/>
          <p:nvPr/>
        </p:nvGrpSpPr>
        <p:grpSpPr>
          <a:xfrm>
            <a:off x="3215639" y="2061532"/>
            <a:ext cx="5766435" cy="4526283"/>
            <a:chOff x="0" y="0"/>
            <a:chExt cx="5760720" cy="499427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20F168-6113-E265-0E2D-D46C36877419}"/>
                </a:ext>
              </a:extLst>
            </p:cNvPr>
            <p:cNvSpPr/>
            <p:nvPr/>
          </p:nvSpPr>
          <p:spPr>
            <a:xfrm>
              <a:off x="0" y="0"/>
              <a:ext cx="5760720" cy="4994275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15F809B-3699-8191-ED4B-ED20CEA0DFBB}"/>
                </a:ext>
              </a:extLst>
            </p:cNvPr>
            <p:cNvGrpSpPr/>
            <p:nvPr/>
          </p:nvGrpSpPr>
          <p:grpSpPr>
            <a:xfrm>
              <a:off x="88814" y="130175"/>
              <a:ext cx="1039128" cy="2194560"/>
              <a:chOff x="88814" y="130175"/>
              <a:chExt cx="1565275" cy="2267585"/>
            </a:xfrm>
          </p:grpSpPr>
          <p:sp>
            <p:nvSpPr>
              <p:cNvPr id="87" name="Flowchart: Process 86">
                <a:extLst>
                  <a:ext uri="{FF2B5EF4-FFF2-40B4-BE49-F238E27FC236}">
                    <a16:creationId xmlns:a16="http://schemas.microsoft.com/office/drawing/2014/main" id="{4324DC60-6344-63C3-B582-1670FA73882C}"/>
                  </a:ext>
                </a:extLst>
              </p:cNvPr>
              <p:cNvSpPr/>
              <p:nvPr/>
            </p:nvSpPr>
            <p:spPr>
              <a:xfrm>
                <a:off x="88814" y="130175"/>
                <a:ext cx="1565275" cy="2267585"/>
              </a:xfrm>
              <a:prstGeom prst="flowChartProcess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00" dirty="0">
                    <a:solidFill>
                      <a:srgbClr val="000000"/>
                    </a:solidFill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Console UI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99F5C158-D63B-BEC7-2635-F0E63A41EB1C}"/>
                  </a:ext>
                </a:extLst>
              </p:cNvPr>
              <p:cNvGrpSpPr/>
              <p:nvPr/>
            </p:nvGrpSpPr>
            <p:grpSpPr>
              <a:xfrm>
                <a:off x="88814" y="130175"/>
                <a:ext cx="1565275" cy="1833880"/>
                <a:chOff x="88814" y="130175"/>
                <a:chExt cx="1565275" cy="1833880"/>
              </a:xfrm>
            </p:grpSpPr>
            <p:sp>
              <p:nvSpPr>
                <p:cNvPr id="89" name="Flowchart: Process 88">
                  <a:extLst>
                    <a:ext uri="{FF2B5EF4-FFF2-40B4-BE49-F238E27FC236}">
                      <a16:creationId xmlns:a16="http://schemas.microsoft.com/office/drawing/2014/main" id="{49BD9EEE-669F-DBC9-045C-61FAA6F1A50C}"/>
                    </a:ext>
                  </a:extLst>
                </p:cNvPr>
                <p:cNvSpPr/>
                <p:nvPr/>
              </p:nvSpPr>
              <p:spPr>
                <a:xfrm>
                  <a:off x="88814" y="130175"/>
                  <a:ext cx="1565275" cy="241161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000" b="1" kern="100">
                      <a:solidFill>
                        <a:srgbClr val="0E2841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View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0" name="Flowchart: Process 89">
                  <a:extLst>
                    <a:ext uri="{FF2B5EF4-FFF2-40B4-BE49-F238E27FC236}">
                      <a16:creationId xmlns:a16="http://schemas.microsoft.com/office/drawing/2014/main" id="{FF8ECCC9-F506-7657-6C78-3E319AB4453E}"/>
                    </a:ext>
                  </a:extLst>
                </p:cNvPr>
                <p:cNvSpPr/>
                <p:nvPr/>
              </p:nvSpPr>
              <p:spPr>
                <a:xfrm>
                  <a:off x="266614" y="574675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UserView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1" name="Flowchart: Process 90">
                  <a:extLst>
                    <a:ext uri="{FF2B5EF4-FFF2-40B4-BE49-F238E27FC236}">
                      <a16:creationId xmlns:a16="http://schemas.microsoft.com/office/drawing/2014/main" id="{155EFA2D-59C2-7EB0-E953-0949EFD068CA}"/>
                    </a:ext>
                  </a:extLst>
                </p:cNvPr>
                <p:cNvSpPr/>
                <p:nvPr/>
              </p:nvSpPr>
              <p:spPr>
                <a:xfrm>
                  <a:off x="266614" y="955675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BillView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2" name="Flowchart: Process 91">
                  <a:extLst>
                    <a:ext uri="{FF2B5EF4-FFF2-40B4-BE49-F238E27FC236}">
                      <a16:creationId xmlns:a16="http://schemas.microsoft.com/office/drawing/2014/main" id="{CFFDF624-39BE-2503-2C55-C35EF3517CF5}"/>
                    </a:ext>
                  </a:extLst>
                </p:cNvPr>
                <p:cNvSpPr/>
                <p:nvPr/>
              </p:nvSpPr>
              <p:spPr>
                <a:xfrm>
                  <a:off x="266614" y="1343025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 dirty="0" err="1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AdminView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3" name="Flowchart: Process 92">
                  <a:extLst>
                    <a:ext uri="{FF2B5EF4-FFF2-40B4-BE49-F238E27FC236}">
                      <a16:creationId xmlns:a16="http://schemas.microsoft.com/office/drawing/2014/main" id="{742F97DE-B4BF-79DF-00D1-5847FD1E6ED2}"/>
                    </a:ext>
                  </a:extLst>
                </p:cNvPr>
                <p:cNvSpPr/>
                <p:nvPr/>
              </p:nvSpPr>
              <p:spPr>
                <a:xfrm>
                  <a:off x="266614" y="1730375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 dirty="0" err="1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MainView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8731DE0-8426-E02A-F863-066D9BEBA96F}"/>
                </a:ext>
              </a:extLst>
            </p:cNvPr>
            <p:cNvGrpSpPr/>
            <p:nvPr/>
          </p:nvGrpSpPr>
          <p:grpSpPr>
            <a:xfrm>
              <a:off x="1290583" y="123190"/>
              <a:ext cx="1096126" cy="2199640"/>
              <a:chOff x="1290583" y="123190"/>
              <a:chExt cx="1565275" cy="2205200"/>
            </a:xfrm>
          </p:grpSpPr>
          <p:sp>
            <p:nvSpPr>
              <p:cNvPr id="81" name="Flowchart: Process 80">
                <a:extLst>
                  <a:ext uri="{FF2B5EF4-FFF2-40B4-BE49-F238E27FC236}">
                    <a16:creationId xmlns:a16="http://schemas.microsoft.com/office/drawing/2014/main" id="{8934D06F-DAB5-4EB6-B876-EBBFC6221CB0}"/>
                  </a:ext>
                </a:extLst>
              </p:cNvPr>
              <p:cNvSpPr/>
              <p:nvPr/>
            </p:nvSpPr>
            <p:spPr>
              <a:xfrm>
                <a:off x="1290583" y="128597"/>
                <a:ext cx="1565275" cy="2199793"/>
              </a:xfrm>
              <a:prstGeom prst="flowChartProcess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00">
                    <a:solidFill>
                      <a:srgbClr val="000000"/>
                    </a:solidFill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 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D37B5F37-82F4-2F0D-E03F-CAC43FA9F812}"/>
                  </a:ext>
                </a:extLst>
              </p:cNvPr>
              <p:cNvGrpSpPr/>
              <p:nvPr/>
            </p:nvGrpSpPr>
            <p:grpSpPr>
              <a:xfrm>
                <a:off x="1290583" y="123190"/>
                <a:ext cx="1565275" cy="1559915"/>
                <a:chOff x="1290583" y="123190"/>
                <a:chExt cx="1565275" cy="1559915"/>
              </a:xfrm>
            </p:grpSpPr>
            <p:sp>
              <p:nvSpPr>
                <p:cNvPr id="83" name="Flowchart: Process 82">
                  <a:extLst>
                    <a:ext uri="{FF2B5EF4-FFF2-40B4-BE49-F238E27FC236}">
                      <a16:creationId xmlns:a16="http://schemas.microsoft.com/office/drawing/2014/main" id="{7EFFA371-EDB8-573F-BC51-9132BAF31E08}"/>
                    </a:ext>
                  </a:extLst>
                </p:cNvPr>
                <p:cNvSpPr/>
                <p:nvPr/>
              </p:nvSpPr>
              <p:spPr>
                <a:xfrm>
                  <a:off x="1290583" y="123190"/>
                  <a:ext cx="1565275" cy="241161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000" b="1" kern="100" dirty="0">
                      <a:solidFill>
                        <a:srgbClr val="0E2841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Controller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4" name="Flowchart: Process 83">
                  <a:extLst>
                    <a:ext uri="{FF2B5EF4-FFF2-40B4-BE49-F238E27FC236}">
                      <a16:creationId xmlns:a16="http://schemas.microsoft.com/office/drawing/2014/main" id="{192D2DAF-0D01-3A0E-2593-ACE680925185}"/>
                    </a:ext>
                  </a:extLst>
                </p:cNvPr>
                <p:cNvSpPr/>
                <p:nvPr/>
              </p:nvSpPr>
              <p:spPr>
                <a:xfrm>
                  <a:off x="1468383" y="567690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UserController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5" name="Flowchart: Process 84">
                  <a:extLst>
                    <a:ext uri="{FF2B5EF4-FFF2-40B4-BE49-F238E27FC236}">
                      <a16:creationId xmlns:a16="http://schemas.microsoft.com/office/drawing/2014/main" id="{10FAD396-FFBC-6FB4-E5CC-BF27DA512841}"/>
                    </a:ext>
                  </a:extLst>
                </p:cNvPr>
                <p:cNvSpPr/>
                <p:nvPr/>
              </p:nvSpPr>
              <p:spPr>
                <a:xfrm>
                  <a:off x="1468383" y="948690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AdminController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Flowchart: Process 85">
                  <a:extLst>
                    <a:ext uri="{FF2B5EF4-FFF2-40B4-BE49-F238E27FC236}">
                      <a16:creationId xmlns:a16="http://schemas.microsoft.com/office/drawing/2014/main" id="{647603CD-C771-2FC3-0995-DE7280ABE99E}"/>
                    </a:ext>
                  </a:extLst>
                </p:cNvPr>
                <p:cNvSpPr/>
                <p:nvPr/>
              </p:nvSpPr>
              <p:spPr>
                <a:xfrm>
                  <a:off x="1470061" y="1334770"/>
                  <a:ext cx="1184910" cy="348335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MiniSmartMeter</a:t>
                  </a:r>
                  <a:b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</a:br>
                  <a: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(main class)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ACD24D3-7658-58AD-AC2D-989B1EBAD0DF}"/>
                </a:ext>
              </a:extLst>
            </p:cNvPr>
            <p:cNvGrpSpPr/>
            <p:nvPr/>
          </p:nvGrpSpPr>
          <p:grpSpPr>
            <a:xfrm>
              <a:off x="2470149" y="115570"/>
              <a:ext cx="3190100" cy="4776470"/>
              <a:chOff x="2470149" y="115570"/>
              <a:chExt cx="1565351" cy="2095688"/>
            </a:xfrm>
          </p:grpSpPr>
          <p:sp>
            <p:nvSpPr>
              <p:cNvPr id="57" name="Flowchart: Process 56">
                <a:extLst>
                  <a:ext uri="{FF2B5EF4-FFF2-40B4-BE49-F238E27FC236}">
                    <a16:creationId xmlns:a16="http://schemas.microsoft.com/office/drawing/2014/main" id="{35AAD60F-8170-6C5D-6D6E-9836BC54D112}"/>
                  </a:ext>
                </a:extLst>
              </p:cNvPr>
              <p:cNvSpPr/>
              <p:nvPr/>
            </p:nvSpPr>
            <p:spPr>
              <a:xfrm>
                <a:off x="2470225" y="120977"/>
                <a:ext cx="1565275" cy="2090281"/>
              </a:xfrm>
              <a:prstGeom prst="flowChartProcess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00">
                    <a:solidFill>
                      <a:srgbClr val="000000"/>
                    </a:solidFill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 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0FDE0274-8F71-15A8-477B-5CA95B9C0AF8}"/>
                  </a:ext>
                </a:extLst>
              </p:cNvPr>
              <p:cNvGrpSpPr/>
              <p:nvPr/>
            </p:nvGrpSpPr>
            <p:grpSpPr>
              <a:xfrm>
                <a:off x="2470149" y="115570"/>
                <a:ext cx="1565275" cy="2026847"/>
                <a:chOff x="2470149" y="115570"/>
                <a:chExt cx="1565275" cy="2026847"/>
              </a:xfrm>
            </p:grpSpPr>
            <p:sp>
              <p:nvSpPr>
                <p:cNvPr id="59" name="Flowchart: Process 58">
                  <a:extLst>
                    <a:ext uri="{FF2B5EF4-FFF2-40B4-BE49-F238E27FC236}">
                      <a16:creationId xmlns:a16="http://schemas.microsoft.com/office/drawing/2014/main" id="{270A54D3-FB58-C517-1B15-E79FC745EF73}"/>
                    </a:ext>
                  </a:extLst>
                </p:cNvPr>
                <p:cNvSpPr/>
                <p:nvPr/>
              </p:nvSpPr>
              <p:spPr>
                <a:xfrm>
                  <a:off x="2520406" y="864722"/>
                  <a:ext cx="1474311" cy="85531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DAO Layer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Flowchart: Process 59">
                  <a:extLst>
                    <a:ext uri="{FF2B5EF4-FFF2-40B4-BE49-F238E27FC236}">
                      <a16:creationId xmlns:a16="http://schemas.microsoft.com/office/drawing/2014/main" id="{062E22FA-BDAB-9FD8-896B-A6E3D3D692BA}"/>
                    </a:ext>
                  </a:extLst>
                </p:cNvPr>
                <p:cNvSpPr/>
                <p:nvPr/>
              </p:nvSpPr>
              <p:spPr>
                <a:xfrm>
                  <a:off x="2470149" y="115570"/>
                  <a:ext cx="1565275" cy="11109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000" b="1" kern="100">
                      <a:solidFill>
                        <a:srgbClr val="0E2841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Model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Flowchart: Process 60">
                  <a:extLst>
                    <a:ext uri="{FF2B5EF4-FFF2-40B4-BE49-F238E27FC236}">
                      <a16:creationId xmlns:a16="http://schemas.microsoft.com/office/drawing/2014/main" id="{EE75FFE7-DD03-2149-18B7-9AB50E5F64C0}"/>
                    </a:ext>
                  </a:extLst>
                </p:cNvPr>
                <p:cNvSpPr/>
                <p:nvPr/>
              </p:nvSpPr>
              <p:spPr>
                <a:xfrm>
                  <a:off x="2520246" y="267729"/>
                  <a:ext cx="1474311" cy="557919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000" kern="100" dirty="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Service Layer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Flowchart: Process 61">
                  <a:extLst>
                    <a:ext uri="{FF2B5EF4-FFF2-40B4-BE49-F238E27FC236}">
                      <a16:creationId xmlns:a16="http://schemas.microsoft.com/office/drawing/2014/main" id="{4A3E27BC-B7F4-67F0-E4D0-EC5416D3148B}"/>
                    </a:ext>
                  </a:extLst>
                </p:cNvPr>
                <p:cNvSpPr/>
                <p:nvPr/>
              </p:nvSpPr>
              <p:spPr>
                <a:xfrm>
                  <a:off x="2520406" y="354006"/>
                  <a:ext cx="517562" cy="11848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UserServiceImpl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Flowchart: Process 62">
                  <a:extLst>
                    <a:ext uri="{FF2B5EF4-FFF2-40B4-BE49-F238E27FC236}">
                      <a16:creationId xmlns:a16="http://schemas.microsoft.com/office/drawing/2014/main" id="{EB61675E-1342-B539-DA18-3223A019A96C}"/>
                    </a:ext>
                  </a:extLst>
                </p:cNvPr>
                <p:cNvSpPr/>
                <p:nvPr/>
              </p:nvSpPr>
              <p:spPr>
                <a:xfrm>
                  <a:off x="3495881" y="355126"/>
                  <a:ext cx="498676" cy="117389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BillingServiceImpl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Flowchart: Process 63">
                  <a:extLst>
                    <a:ext uri="{FF2B5EF4-FFF2-40B4-BE49-F238E27FC236}">
                      <a16:creationId xmlns:a16="http://schemas.microsoft.com/office/drawing/2014/main" id="{A1241559-BA73-ABD5-F4E0-8EDF83567D7F}"/>
                    </a:ext>
                  </a:extLst>
                </p:cNvPr>
                <p:cNvSpPr/>
                <p:nvPr/>
              </p:nvSpPr>
              <p:spPr>
                <a:xfrm>
                  <a:off x="3006136" y="355150"/>
                  <a:ext cx="529088" cy="11773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 dirty="0" err="1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AdminServiceImpl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Flowchart: Process 64">
                  <a:extLst>
                    <a:ext uri="{FF2B5EF4-FFF2-40B4-BE49-F238E27FC236}">
                      <a16:creationId xmlns:a16="http://schemas.microsoft.com/office/drawing/2014/main" id="{901647E3-38C4-A74E-EEAD-CBA425C25D88}"/>
                    </a:ext>
                  </a:extLst>
                </p:cNvPr>
                <p:cNvSpPr/>
                <p:nvPr/>
              </p:nvSpPr>
              <p:spPr>
                <a:xfrm>
                  <a:off x="2708354" y="493202"/>
                  <a:ext cx="554085" cy="112242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600" b="1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MeterReadingServiceImpl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Flowchart: Process 65">
                  <a:extLst>
                    <a:ext uri="{FF2B5EF4-FFF2-40B4-BE49-F238E27FC236}">
                      <a16:creationId xmlns:a16="http://schemas.microsoft.com/office/drawing/2014/main" id="{8CB001CF-217B-88EC-61A2-10605A1BFC03}"/>
                    </a:ext>
                  </a:extLst>
                </p:cNvPr>
                <p:cNvSpPr/>
                <p:nvPr/>
              </p:nvSpPr>
              <p:spPr>
                <a:xfrm>
                  <a:off x="3302406" y="493206"/>
                  <a:ext cx="490433" cy="112238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ReportServiceImpl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Flowchart: Process 66">
                  <a:extLst>
                    <a:ext uri="{FF2B5EF4-FFF2-40B4-BE49-F238E27FC236}">
                      <a16:creationId xmlns:a16="http://schemas.microsoft.com/office/drawing/2014/main" id="{27BBFAFA-3227-9F84-6E94-D87A6AA1751B}"/>
                    </a:ext>
                  </a:extLst>
                </p:cNvPr>
                <p:cNvSpPr/>
                <p:nvPr/>
              </p:nvSpPr>
              <p:spPr>
                <a:xfrm>
                  <a:off x="3022428" y="657556"/>
                  <a:ext cx="490433" cy="168092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LogSubject</a:t>
                  </a:r>
                  <a:b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</a:b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(Singleton)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8" name="Flowchart: Process 67">
                  <a:extLst>
                    <a:ext uri="{FF2B5EF4-FFF2-40B4-BE49-F238E27FC236}">
                      <a16:creationId xmlns:a16="http://schemas.microsoft.com/office/drawing/2014/main" id="{A24169AF-176B-82D9-C163-3F9A4632D935}"/>
                    </a:ext>
                  </a:extLst>
                </p:cNvPr>
                <p:cNvSpPr/>
                <p:nvPr/>
              </p:nvSpPr>
              <p:spPr>
                <a:xfrm>
                  <a:off x="2547571" y="962690"/>
                  <a:ext cx="508061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BillDAOImpl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Flowchart: Process 68">
                  <a:extLst>
                    <a:ext uri="{FF2B5EF4-FFF2-40B4-BE49-F238E27FC236}">
                      <a16:creationId xmlns:a16="http://schemas.microsoft.com/office/drawing/2014/main" id="{867B49FE-666C-F21B-9577-0A85FF2EF7E9}"/>
                    </a:ext>
                  </a:extLst>
                </p:cNvPr>
                <p:cNvSpPr/>
                <p:nvPr/>
              </p:nvSpPr>
              <p:spPr>
                <a:xfrm>
                  <a:off x="2547534" y="1082359"/>
                  <a:ext cx="508061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Flowchart: Process 69">
                  <a:extLst>
                    <a:ext uri="{FF2B5EF4-FFF2-40B4-BE49-F238E27FC236}">
                      <a16:creationId xmlns:a16="http://schemas.microsoft.com/office/drawing/2014/main" id="{782D63CE-0914-942E-4C56-AAEFA2BDE319}"/>
                    </a:ext>
                  </a:extLst>
                </p:cNvPr>
                <p:cNvSpPr/>
                <p:nvPr/>
              </p:nvSpPr>
              <p:spPr>
                <a:xfrm>
                  <a:off x="2547558" y="1199342"/>
                  <a:ext cx="508074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1" name="Flowchart: Process 70">
                  <a:extLst>
                    <a:ext uri="{FF2B5EF4-FFF2-40B4-BE49-F238E27FC236}">
                      <a16:creationId xmlns:a16="http://schemas.microsoft.com/office/drawing/2014/main" id="{297A71EF-4C55-E396-D671-FCB72C1AC7CF}"/>
                    </a:ext>
                  </a:extLst>
                </p:cNvPr>
                <p:cNvSpPr/>
                <p:nvPr/>
              </p:nvSpPr>
              <p:spPr>
                <a:xfrm>
                  <a:off x="2547556" y="1321890"/>
                  <a:ext cx="508079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ReportDAOImpl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2" name="Flowchart: Process 71">
                  <a:extLst>
                    <a:ext uri="{FF2B5EF4-FFF2-40B4-BE49-F238E27FC236}">
                      <a16:creationId xmlns:a16="http://schemas.microsoft.com/office/drawing/2014/main" id="{1D8CF657-CAC3-9245-8E24-5DF086DC2D59}"/>
                    </a:ext>
                  </a:extLst>
                </p:cNvPr>
                <p:cNvSpPr/>
                <p:nvPr/>
              </p:nvSpPr>
              <p:spPr>
                <a:xfrm>
                  <a:off x="2547561" y="1444523"/>
                  <a:ext cx="508074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PaymentDAOImpl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3" name="Flowchart: Process 72">
                  <a:extLst>
                    <a:ext uri="{FF2B5EF4-FFF2-40B4-BE49-F238E27FC236}">
                      <a16:creationId xmlns:a16="http://schemas.microsoft.com/office/drawing/2014/main" id="{750E8CBF-2367-B690-C087-20A146C82ED2}"/>
                    </a:ext>
                  </a:extLst>
                </p:cNvPr>
                <p:cNvSpPr/>
                <p:nvPr/>
              </p:nvSpPr>
              <p:spPr>
                <a:xfrm>
                  <a:off x="2547555" y="1566978"/>
                  <a:ext cx="508102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600" b="1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MeterReadingDAOImpl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4" name="Flowchart: Process 73">
                  <a:extLst>
                    <a:ext uri="{FF2B5EF4-FFF2-40B4-BE49-F238E27FC236}">
                      <a16:creationId xmlns:a16="http://schemas.microsoft.com/office/drawing/2014/main" id="{A8B45296-4DA4-DF99-7EA3-9F1E0576E3CC}"/>
                    </a:ext>
                  </a:extLst>
                </p:cNvPr>
                <p:cNvSpPr/>
                <p:nvPr/>
              </p:nvSpPr>
              <p:spPr>
                <a:xfrm>
                  <a:off x="3472323" y="1602241"/>
                  <a:ext cx="437290" cy="92806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LogObserver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5" name="Flowchart: Process 74">
                  <a:extLst>
                    <a:ext uri="{FF2B5EF4-FFF2-40B4-BE49-F238E27FC236}">
                      <a16:creationId xmlns:a16="http://schemas.microsoft.com/office/drawing/2014/main" id="{85AE2E60-88A7-B1FE-4156-36716D1ACD25}"/>
                    </a:ext>
                  </a:extLst>
                </p:cNvPr>
                <p:cNvSpPr/>
                <p:nvPr/>
              </p:nvSpPr>
              <p:spPr>
                <a:xfrm>
                  <a:off x="2520406" y="1752675"/>
                  <a:ext cx="1474311" cy="389742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Entity Model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6" name="Flowchart: Process 75">
                  <a:extLst>
                    <a:ext uri="{FF2B5EF4-FFF2-40B4-BE49-F238E27FC236}">
                      <a16:creationId xmlns:a16="http://schemas.microsoft.com/office/drawing/2014/main" id="{E915EBE6-E412-19E0-9909-B9F57A925E5B}"/>
                    </a:ext>
                  </a:extLst>
                </p:cNvPr>
                <p:cNvSpPr/>
                <p:nvPr/>
              </p:nvSpPr>
              <p:spPr>
                <a:xfrm>
                  <a:off x="2597319" y="1863975"/>
                  <a:ext cx="280743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7" name="Flowchart: Process 76">
                  <a:extLst>
                    <a:ext uri="{FF2B5EF4-FFF2-40B4-BE49-F238E27FC236}">
                      <a16:creationId xmlns:a16="http://schemas.microsoft.com/office/drawing/2014/main" id="{2C5B8DF2-48E2-F20D-9FD3-9AE6F0024251}"/>
                    </a:ext>
                  </a:extLst>
                </p:cNvPr>
                <p:cNvSpPr/>
                <p:nvPr/>
              </p:nvSpPr>
              <p:spPr>
                <a:xfrm>
                  <a:off x="2948227" y="1863410"/>
                  <a:ext cx="280743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8" name="Flowchart: Process 77">
                  <a:extLst>
                    <a:ext uri="{FF2B5EF4-FFF2-40B4-BE49-F238E27FC236}">
                      <a16:creationId xmlns:a16="http://schemas.microsoft.com/office/drawing/2014/main" id="{0FF887EF-A49D-94B8-A9C1-92796D4C6E8E}"/>
                    </a:ext>
                  </a:extLst>
                </p:cNvPr>
                <p:cNvSpPr/>
                <p:nvPr/>
              </p:nvSpPr>
              <p:spPr>
                <a:xfrm>
                  <a:off x="3302406" y="1865297"/>
                  <a:ext cx="280743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Bill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9" name="Flowchart: Process 78">
                  <a:extLst>
                    <a:ext uri="{FF2B5EF4-FFF2-40B4-BE49-F238E27FC236}">
                      <a16:creationId xmlns:a16="http://schemas.microsoft.com/office/drawing/2014/main" id="{657A3360-E5D9-E8AB-A678-E4C0423B74B6}"/>
                    </a:ext>
                  </a:extLst>
                </p:cNvPr>
                <p:cNvSpPr/>
                <p:nvPr/>
              </p:nvSpPr>
              <p:spPr>
                <a:xfrm>
                  <a:off x="3055123" y="2007184"/>
                  <a:ext cx="434567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MeterReading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0" name="Flowchart: Process 79">
                  <a:extLst>
                    <a:ext uri="{FF2B5EF4-FFF2-40B4-BE49-F238E27FC236}">
                      <a16:creationId xmlns:a16="http://schemas.microsoft.com/office/drawing/2014/main" id="{B5DC3103-402B-0896-74A9-F65FB585CBD6}"/>
                    </a:ext>
                  </a:extLst>
                </p:cNvPr>
                <p:cNvSpPr/>
                <p:nvPr/>
              </p:nvSpPr>
              <p:spPr>
                <a:xfrm>
                  <a:off x="3645339" y="1866722"/>
                  <a:ext cx="280743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Report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9" name="Flowchart: Magnetic Disk 18">
              <a:extLst>
                <a:ext uri="{FF2B5EF4-FFF2-40B4-BE49-F238E27FC236}">
                  <a16:creationId xmlns:a16="http://schemas.microsoft.com/office/drawing/2014/main" id="{EF917D2B-E189-75C0-3DBF-2642B24E4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085" y="2296946"/>
              <a:ext cx="1017911" cy="816502"/>
            </a:xfrm>
            <a:prstGeom prst="flowChartMagneticDisk">
              <a:avLst/>
            </a:prstGeom>
            <a:solidFill>
              <a:srgbClr val="FFFFFF"/>
            </a:solidFill>
            <a:ln w="9525">
              <a:solidFill>
                <a:srgbClr val="030E1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algn="ctr" eaLnBrk="0" fontAlgn="base" hangingPunct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kern="1200" dirty="0" err="1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DBConnection</a:t>
              </a:r>
              <a:br>
                <a:rPr lang="en-US" sz="1000" kern="12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</a:br>
              <a:r>
                <a:rPr lang="en-US" sz="1000" kern="12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(Singleton)</a:t>
              </a:r>
              <a:endPara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4B2BCB0-BFCE-EED1-1E68-E01D4B930944}"/>
                </a:ext>
              </a:extLst>
            </p:cNvPr>
            <p:cNvCxnSpPr/>
            <p:nvPr/>
          </p:nvCxnSpPr>
          <p:spPr>
            <a:xfrm>
              <a:off x="998051" y="678180"/>
              <a:ext cx="412987" cy="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9107C993-2E14-E9C8-5CF9-C98C59D5F1FB}"/>
                </a:ext>
              </a:extLst>
            </p:cNvPr>
            <p:cNvCxnSpPr/>
            <p:nvPr/>
          </p:nvCxnSpPr>
          <p:spPr>
            <a:xfrm flipV="1">
              <a:off x="999716" y="683895"/>
              <a:ext cx="411876" cy="353695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97F25E3C-1F8E-51F0-40CD-215816F812D6}"/>
                </a:ext>
              </a:extLst>
            </p:cNvPr>
            <p:cNvCxnSpPr/>
            <p:nvPr/>
          </p:nvCxnSpPr>
          <p:spPr>
            <a:xfrm flipV="1">
              <a:off x="995831" y="1067435"/>
              <a:ext cx="410766" cy="343535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576F6619-8512-0711-F161-91F97FE00EC6}"/>
                </a:ext>
              </a:extLst>
            </p:cNvPr>
            <p:cNvCxnSpPr/>
            <p:nvPr/>
          </p:nvCxnSpPr>
          <p:spPr>
            <a:xfrm flipV="1">
              <a:off x="999716" y="1489710"/>
              <a:ext cx="411876" cy="302895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51A9406-1961-BDCC-6148-2C11210C3650}"/>
                </a:ext>
              </a:extLst>
            </p:cNvPr>
            <p:cNvCxnSpPr/>
            <p:nvPr/>
          </p:nvCxnSpPr>
          <p:spPr>
            <a:xfrm>
              <a:off x="4127646" y="927100"/>
              <a:ext cx="0" cy="41148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077AFE65-8011-B094-F71F-073685CCB714}"/>
                </a:ext>
              </a:extLst>
            </p:cNvPr>
            <p:cNvCxnSpPr/>
            <p:nvPr/>
          </p:nvCxnSpPr>
          <p:spPr>
            <a:xfrm flipH="1">
              <a:off x="4598362" y="932180"/>
              <a:ext cx="817092" cy="554990"/>
            </a:xfrm>
            <a:prstGeom prst="bentConnector3">
              <a:avLst>
                <a:gd name="adj1" fmla="val 577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7A27F59F-90C3-7668-52EA-837F6DC21195}"/>
                </a:ext>
              </a:extLst>
            </p:cNvPr>
            <p:cNvCxnSpPr>
              <a:cxnSpLocks/>
            </p:cNvCxnSpPr>
            <p:nvPr/>
          </p:nvCxnSpPr>
          <p:spPr>
            <a:xfrm>
              <a:off x="4599902" y="1561703"/>
              <a:ext cx="340128" cy="731520"/>
            </a:xfrm>
            <a:prstGeom prst="bentConnector2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17CD4B57-E4C8-25F6-EDBC-69C408A9CA5C}"/>
                </a:ext>
              </a:extLst>
            </p:cNvPr>
            <p:cNvCxnSpPr>
              <a:cxnSpLocks/>
              <a:stCxn id="68" idx="3"/>
            </p:cNvCxnSpPr>
            <p:nvPr/>
          </p:nvCxnSpPr>
          <p:spPr>
            <a:xfrm>
              <a:off x="3663332" y="2186093"/>
              <a:ext cx="737973" cy="513927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6FB76829-91D4-78F4-DF60-6BA4ED4513D1}"/>
                </a:ext>
              </a:extLst>
            </p:cNvPr>
            <p:cNvCxnSpPr>
              <a:cxnSpLocks/>
            </p:cNvCxnSpPr>
            <p:nvPr/>
          </p:nvCxnSpPr>
          <p:spPr>
            <a:xfrm>
              <a:off x="3659446" y="2467353"/>
              <a:ext cx="741304" cy="232032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FE315CEA-073B-0768-0F3E-442D1FD681A0}"/>
                </a:ext>
              </a:extLst>
            </p:cNvPr>
            <p:cNvCxnSpPr>
              <a:cxnSpLocks/>
              <a:stCxn id="70" idx="3"/>
            </p:cNvCxnSpPr>
            <p:nvPr/>
          </p:nvCxnSpPr>
          <p:spPr>
            <a:xfrm flipV="1">
              <a:off x="3663331" y="2700020"/>
              <a:ext cx="736309" cy="25448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6E3CD6AB-C997-333A-22D6-3574AF5C6959}"/>
                </a:ext>
              </a:extLst>
            </p:cNvPr>
            <p:cNvCxnSpPr>
              <a:cxnSpLocks/>
              <a:stCxn id="71" idx="3"/>
            </p:cNvCxnSpPr>
            <p:nvPr/>
          </p:nvCxnSpPr>
          <p:spPr>
            <a:xfrm flipV="1">
              <a:off x="3663337" y="2697480"/>
              <a:ext cx="735193" cy="307298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nector: Elbow 43">
              <a:extLst>
                <a:ext uri="{FF2B5EF4-FFF2-40B4-BE49-F238E27FC236}">
                  <a16:creationId xmlns:a16="http://schemas.microsoft.com/office/drawing/2014/main" id="{58D37A64-9731-8DEB-F691-A6FB61A17B5D}"/>
                </a:ext>
              </a:extLst>
            </p:cNvPr>
            <p:cNvCxnSpPr>
              <a:cxnSpLocks/>
              <a:stCxn id="72" idx="3"/>
            </p:cNvCxnSpPr>
            <p:nvPr/>
          </p:nvCxnSpPr>
          <p:spPr>
            <a:xfrm flipV="1">
              <a:off x="3663337" y="2697480"/>
              <a:ext cx="734083" cy="586801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77D69DD4-7492-EE1F-8E3C-42E53304F314}"/>
                </a:ext>
              </a:extLst>
            </p:cNvPr>
            <p:cNvCxnSpPr/>
            <p:nvPr/>
          </p:nvCxnSpPr>
          <p:spPr>
            <a:xfrm flipV="1">
              <a:off x="3663591" y="2700020"/>
              <a:ext cx="737714" cy="866775"/>
            </a:xfrm>
            <a:prstGeom prst="bentConnector3">
              <a:avLst>
                <a:gd name="adj1" fmla="val 49622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662AEA37-E5D5-0A15-FEBA-FBA1CF24DF6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761556" y="3298098"/>
              <a:ext cx="365760" cy="554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8543870F-BB8B-8629-E95C-267C0723D2F0}"/>
                </a:ext>
              </a:extLst>
            </p:cNvPr>
            <p:cNvCxnSpPr>
              <a:cxnSpLocks/>
              <a:stCxn id="74" idx="2"/>
            </p:cNvCxnSpPr>
            <p:nvPr/>
          </p:nvCxnSpPr>
          <p:spPr>
            <a:xfrm rot="5400000">
              <a:off x="4550464" y="3567451"/>
              <a:ext cx="259602" cy="555695"/>
            </a:xfrm>
            <a:prstGeom prst="bentConnector2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4322AB84-727E-28F8-943D-5339368C6746}"/>
                </a:ext>
              </a:extLst>
            </p:cNvPr>
            <p:cNvCxnSpPr>
              <a:stCxn id="84" idx="3"/>
              <a:endCxn id="61" idx="1"/>
            </p:cNvCxnSpPr>
            <p:nvPr/>
          </p:nvCxnSpPr>
          <p:spPr>
            <a:xfrm>
              <a:off x="2244857" y="683115"/>
              <a:ext cx="327387" cy="415056"/>
            </a:xfrm>
            <a:prstGeom prst="bentConnector3">
              <a:avLst>
                <a:gd name="adj1" fmla="val 55819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79938FA8-7894-9FB7-1187-A05159CCFBB5}"/>
                </a:ext>
              </a:extLst>
            </p:cNvPr>
            <p:cNvCxnSpPr>
              <a:cxnSpLocks/>
            </p:cNvCxnSpPr>
            <p:nvPr/>
          </p:nvCxnSpPr>
          <p:spPr>
            <a:xfrm>
              <a:off x="2261046" y="1100552"/>
              <a:ext cx="311198" cy="1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C509657C-6F94-EE1A-40D6-0A7280622D05}"/>
                </a:ext>
              </a:extLst>
            </p:cNvPr>
            <p:cNvCxnSpPr>
              <a:cxnSpLocks/>
            </p:cNvCxnSpPr>
            <p:nvPr/>
          </p:nvCxnSpPr>
          <p:spPr>
            <a:xfrm>
              <a:off x="2822804" y="931438"/>
              <a:ext cx="769638" cy="568985"/>
            </a:xfrm>
            <a:prstGeom prst="bentConnector3">
              <a:avLst>
                <a:gd name="adj1" fmla="val -123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DB216596-965A-001B-619E-D90D3C469D8C}"/>
                </a:ext>
              </a:extLst>
            </p:cNvPr>
            <p:cNvCxnSpPr>
              <a:cxnSpLocks/>
            </p:cNvCxnSpPr>
            <p:nvPr/>
          </p:nvCxnSpPr>
          <p:spPr>
            <a:xfrm>
              <a:off x="3215371" y="1232086"/>
              <a:ext cx="377071" cy="268337"/>
            </a:xfrm>
            <a:prstGeom prst="bentConnector3">
              <a:avLst>
                <a:gd name="adj1" fmla="val 2005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A0F86AE9-881C-8484-AF68-A44ACA95BBF1}"/>
                </a:ext>
              </a:extLst>
            </p:cNvPr>
            <p:cNvCxnSpPr/>
            <p:nvPr/>
          </p:nvCxnSpPr>
          <p:spPr>
            <a:xfrm rot="10800000" flipV="1">
              <a:off x="4595140" y="1239202"/>
              <a:ext cx="384531" cy="247968"/>
            </a:xfrm>
            <a:prstGeom prst="bentConnector3">
              <a:avLst>
                <a:gd name="adj1" fmla="val -366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5327B2-003E-CC18-307F-0502DE4E4B9A}"/>
              </a:ext>
            </a:extLst>
          </p:cNvPr>
          <p:cNvSpPr txBox="1"/>
          <p:nvPr/>
        </p:nvSpPr>
        <p:spPr>
          <a:xfrm>
            <a:off x="646119" y="1059190"/>
            <a:ext cx="1046223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الشكل يوضح اعتماد النظام على معمارية </a:t>
            </a:r>
            <a:r>
              <a:rPr lang="en-US" sz="1600" dirty="0">
                <a:latin typeface="Cairo" pitchFamily="2" charset="-78"/>
                <a:cs typeface="Cairo" pitchFamily="2" charset="-78"/>
              </a:rPr>
              <a:t>MVC </a:t>
            </a:r>
            <a:r>
              <a:rPr lang="ar-LY" sz="1600" dirty="0">
                <a:latin typeface="Cairo" pitchFamily="2" charset="-78"/>
                <a:cs typeface="Cairo" pitchFamily="2" charset="-78"/>
              </a:rPr>
              <a:t> مع تصميم طبقي، حيث يتم فصل واجهة المستخدم عن منطق الأعمال وإدارة البيانات، مما يساهم في وضوح البنية البرمجية وسهولة الصيانة والتوسعة.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6CEF9FC-6A9C-36CB-52E7-2A99B1034F31}"/>
              </a:ext>
            </a:extLst>
          </p:cNvPr>
          <p:cNvSpPr txBox="1"/>
          <p:nvPr/>
        </p:nvSpPr>
        <p:spPr>
          <a:xfrm>
            <a:off x="6704243" y="-4540106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6. أنماط التصميم المستخدمة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1160C-AD92-61EB-294C-5ECFD0EF0781}"/>
              </a:ext>
            </a:extLst>
          </p:cNvPr>
          <p:cNvSpPr txBox="1"/>
          <p:nvPr/>
        </p:nvSpPr>
        <p:spPr>
          <a:xfrm>
            <a:off x="-7439083" y="6460216"/>
            <a:ext cx="618982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LY" sz="1100" dirty="0">
                <a:latin typeface="Cairo" pitchFamily="2" charset="-78"/>
                <a:cs typeface="Cairo" pitchFamily="2" charset="-78"/>
              </a:rPr>
              <a:t>الشكل 1: مخطط حالات الاستخدام لنظام قراءة العداد المصغر وإصدار الفواتير</a:t>
            </a:r>
          </a:p>
        </p:txBody>
      </p:sp>
    </p:spTree>
    <p:extLst>
      <p:ext uri="{BB962C8B-B14F-4D97-AF65-F5344CB8AC3E}">
        <p14:creationId xmlns:p14="http://schemas.microsoft.com/office/powerpoint/2010/main" val="2571470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F13C6F-06B2-94A4-DE52-9F4815EABC66}"/>
              </a:ext>
            </a:extLst>
          </p:cNvPr>
          <p:cNvSpPr txBox="1"/>
          <p:nvPr/>
        </p:nvSpPr>
        <p:spPr>
          <a:xfrm>
            <a:off x="-5961743" y="594328"/>
            <a:ext cx="4615543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LY" sz="2800" b="1" dirty="0">
                <a:solidFill>
                  <a:schemeClr val="bg1"/>
                </a:solidFill>
                <a:latin typeface="Cairo" pitchFamily="2" charset="-78"/>
                <a:cs typeface="Cairo" pitchFamily="2" charset="-78"/>
              </a:rPr>
              <a:t>2. أهداف المشروع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6707645" y="219261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6. أنماط التصميم المستخدمة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91568C-DA21-293D-7CA0-852078255D9B}"/>
              </a:ext>
            </a:extLst>
          </p:cNvPr>
          <p:cNvSpPr txBox="1"/>
          <p:nvPr/>
        </p:nvSpPr>
        <p:spPr>
          <a:xfrm>
            <a:off x="9029699" y="1794246"/>
            <a:ext cx="2519811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6.1</a:t>
            </a:r>
            <a:r>
              <a:rPr lang="ar-LY" dirty="0">
                <a:latin typeface="Cairo" pitchFamily="2" charset="-78"/>
                <a:cs typeface="Cairo" pitchFamily="2" charset="-78"/>
              </a:rPr>
              <a:t> </a:t>
            </a:r>
            <a:r>
              <a:rPr lang="en-US" b="1" dirty="0">
                <a:latin typeface="Cairo" pitchFamily="2" charset="-78"/>
                <a:cs typeface="Cairo" pitchFamily="2" charset="-78"/>
              </a:rPr>
              <a:t>Singleton Pattern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-4541425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(MVC + Layers) 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5. بنية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CC80BF5-A570-ED3C-904A-E57511857940}"/>
              </a:ext>
            </a:extLst>
          </p:cNvPr>
          <p:cNvSpPr/>
          <p:nvPr/>
        </p:nvSpPr>
        <p:spPr>
          <a:xfrm>
            <a:off x="2103624" y="2045114"/>
            <a:ext cx="5048314" cy="300426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ack background with white text">
            <a:extLst>
              <a:ext uri="{FF2B5EF4-FFF2-40B4-BE49-F238E27FC236}">
                <a16:creationId xmlns:a16="http://schemas.microsoft.com/office/drawing/2014/main" id="{53E66A62-6EB1-A3A4-810B-ED81BC6B1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208" y="2464291"/>
            <a:ext cx="4935975" cy="2198085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1EEA3236-DBB8-58F3-3244-24E4ABCDD001}"/>
              </a:ext>
            </a:extLst>
          </p:cNvPr>
          <p:cNvSpPr txBox="1"/>
          <p:nvPr/>
        </p:nvSpPr>
        <p:spPr>
          <a:xfrm>
            <a:off x="-12068406" y="899390"/>
            <a:ext cx="10462235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LY" dirty="0">
                <a:latin typeface="Cairo" pitchFamily="2" charset="-78"/>
                <a:cs typeface="Cairo" pitchFamily="2" charset="-78"/>
              </a:rPr>
              <a:t>يعتمد النظام على معمارية </a:t>
            </a:r>
            <a:r>
              <a:rPr lang="en-US" dirty="0">
                <a:latin typeface="Cairo" pitchFamily="2" charset="-78"/>
                <a:cs typeface="Cairo" pitchFamily="2" charset="-78"/>
              </a:rPr>
              <a:t>MVC </a:t>
            </a:r>
            <a:r>
              <a:rPr lang="ar-LY" dirty="0">
                <a:latin typeface="Cairo" pitchFamily="2" charset="-78"/>
                <a:cs typeface="Cairo" pitchFamily="2" charset="-78"/>
              </a:rPr>
              <a:t>مع تصميم طبقي، حيث يتم فصل واجهة المستخدم، منطق الأعمال، وإدارة البيانات لضمان وضوح البنية وسهولة الصيانة والتوسعة.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EF0B44E2-6A49-535F-3B81-7E08FB80036C}"/>
              </a:ext>
            </a:extLst>
          </p:cNvPr>
          <p:cNvGrpSpPr/>
          <p:nvPr/>
        </p:nvGrpSpPr>
        <p:grpSpPr>
          <a:xfrm>
            <a:off x="-9090661" y="1894336"/>
            <a:ext cx="5766435" cy="4526283"/>
            <a:chOff x="0" y="0"/>
            <a:chExt cx="5760720" cy="4994275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102FB8D-FA2D-3574-2033-0CA32A79E2BE}"/>
                </a:ext>
              </a:extLst>
            </p:cNvPr>
            <p:cNvSpPr/>
            <p:nvPr/>
          </p:nvSpPr>
          <p:spPr>
            <a:xfrm>
              <a:off x="0" y="0"/>
              <a:ext cx="5760720" cy="4994275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5D5C927C-205B-725F-A567-A734DD37760D}"/>
                </a:ext>
              </a:extLst>
            </p:cNvPr>
            <p:cNvGrpSpPr/>
            <p:nvPr/>
          </p:nvGrpSpPr>
          <p:grpSpPr>
            <a:xfrm>
              <a:off x="88814" y="130175"/>
              <a:ext cx="1039128" cy="2194560"/>
              <a:chOff x="88814" y="130175"/>
              <a:chExt cx="1565275" cy="2267585"/>
            </a:xfrm>
          </p:grpSpPr>
          <p:sp>
            <p:nvSpPr>
              <p:cNvPr id="215" name="Flowchart: Process 214">
                <a:extLst>
                  <a:ext uri="{FF2B5EF4-FFF2-40B4-BE49-F238E27FC236}">
                    <a16:creationId xmlns:a16="http://schemas.microsoft.com/office/drawing/2014/main" id="{23B17C34-F53F-A9F4-2AC3-37E70B2AFC5E}"/>
                  </a:ext>
                </a:extLst>
              </p:cNvPr>
              <p:cNvSpPr/>
              <p:nvPr/>
            </p:nvSpPr>
            <p:spPr>
              <a:xfrm>
                <a:off x="88814" y="130175"/>
                <a:ext cx="1565275" cy="2267585"/>
              </a:xfrm>
              <a:prstGeom prst="flowChartProcess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00" dirty="0">
                    <a:solidFill>
                      <a:srgbClr val="000000"/>
                    </a:solidFill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Console UI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E4FCEBF3-A6FE-1D45-61D9-311C1F16A7F1}"/>
                  </a:ext>
                </a:extLst>
              </p:cNvPr>
              <p:cNvGrpSpPr/>
              <p:nvPr/>
            </p:nvGrpSpPr>
            <p:grpSpPr>
              <a:xfrm>
                <a:off x="88814" y="130175"/>
                <a:ext cx="1565275" cy="1833880"/>
                <a:chOff x="88814" y="130175"/>
                <a:chExt cx="1565275" cy="1833880"/>
              </a:xfrm>
            </p:grpSpPr>
            <p:sp>
              <p:nvSpPr>
                <p:cNvPr id="217" name="Flowchart: Process 216">
                  <a:extLst>
                    <a:ext uri="{FF2B5EF4-FFF2-40B4-BE49-F238E27FC236}">
                      <a16:creationId xmlns:a16="http://schemas.microsoft.com/office/drawing/2014/main" id="{BC424580-A22C-5384-9638-DCD7BBCC6C0C}"/>
                    </a:ext>
                  </a:extLst>
                </p:cNvPr>
                <p:cNvSpPr/>
                <p:nvPr/>
              </p:nvSpPr>
              <p:spPr>
                <a:xfrm>
                  <a:off x="88814" y="130175"/>
                  <a:ext cx="1565275" cy="241161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000" b="1" kern="100">
                      <a:solidFill>
                        <a:srgbClr val="0E2841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View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8" name="Flowchart: Process 217">
                  <a:extLst>
                    <a:ext uri="{FF2B5EF4-FFF2-40B4-BE49-F238E27FC236}">
                      <a16:creationId xmlns:a16="http://schemas.microsoft.com/office/drawing/2014/main" id="{1EC7D228-8B58-13CC-75A9-32E6CE1B5D11}"/>
                    </a:ext>
                  </a:extLst>
                </p:cNvPr>
                <p:cNvSpPr/>
                <p:nvPr/>
              </p:nvSpPr>
              <p:spPr>
                <a:xfrm>
                  <a:off x="266614" y="574675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UserView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9" name="Flowchart: Process 218">
                  <a:extLst>
                    <a:ext uri="{FF2B5EF4-FFF2-40B4-BE49-F238E27FC236}">
                      <a16:creationId xmlns:a16="http://schemas.microsoft.com/office/drawing/2014/main" id="{EAD1A239-348E-0D0D-E62D-9F674739BEB5}"/>
                    </a:ext>
                  </a:extLst>
                </p:cNvPr>
                <p:cNvSpPr/>
                <p:nvPr/>
              </p:nvSpPr>
              <p:spPr>
                <a:xfrm>
                  <a:off x="266614" y="955675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BillView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0" name="Flowchart: Process 219">
                  <a:extLst>
                    <a:ext uri="{FF2B5EF4-FFF2-40B4-BE49-F238E27FC236}">
                      <a16:creationId xmlns:a16="http://schemas.microsoft.com/office/drawing/2014/main" id="{479C2604-01CE-9FA3-507E-A613A2DC5BEF}"/>
                    </a:ext>
                  </a:extLst>
                </p:cNvPr>
                <p:cNvSpPr/>
                <p:nvPr/>
              </p:nvSpPr>
              <p:spPr>
                <a:xfrm>
                  <a:off x="266614" y="1343025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 dirty="0" err="1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AdminView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" name="Flowchart: Process 220">
                  <a:extLst>
                    <a:ext uri="{FF2B5EF4-FFF2-40B4-BE49-F238E27FC236}">
                      <a16:creationId xmlns:a16="http://schemas.microsoft.com/office/drawing/2014/main" id="{50C838A9-91AF-4A5F-3EA3-AD58ED1B0DF1}"/>
                    </a:ext>
                  </a:extLst>
                </p:cNvPr>
                <p:cNvSpPr/>
                <p:nvPr/>
              </p:nvSpPr>
              <p:spPr>
                <a:xfrm>
                  <a:off x="266614" y="1730375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 dirty="0" err="1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MainView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C09AAFD5-E8BF-B270-357A-241A8B64781A}"/>
                </a:ext>
              </a:extLst>
            </p:cNvPr>
            <p:cNvGrpSpPr/>
            <p:nvPr/>
          </p:nvGrpSpPr>
          <p:grpSpPr>
            <a:xfrm>
              <a:off x="1290583" y="123190"/>
              <a:ext cx="1096126" cy="2199640"/>
              <a:chOff x="1290583" y="123190"/>
              <a:chExt cx="1565275" cy="2205200"/>
            </a:xfrm>
          </p:grpSpPr>
          <p:sp>
            <p:nvSpPr>
              <p:cNvPr id="209" name="Flowchart: Process 208">
                <a:extLst>
                  <a:ext uri="{FF2B5EF4-FFF2-40B4-BE49-F238E27FC236}">
                    <a16:creationId xmlns:a16="http://schemas.microsoft.com/office/drawing/2014/main" id="{569432F9-F557-4878-38FD-68A7E45F2E57}"/>
                  </a:ext>
                </a:extLst>
              </p:cNvPr>
              <p:cNvSpPr/>
              <p:nvPr/>
            </p:nvSpPr>
            <p:spPr>
              <a:xfrm>
                <a:off x="1290583" y="128597"/>
                <a:ext cx="1565275" cy="2199793"/>
              </a:xfrm>
              <a:prstGeom prst="flowChartProcess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00">
                    <a:solidFill>
                      <a:srgbClr val="000000"/>
                    </a:solidFill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 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10A3BAA6-C597-D6D6-D9AC-A2601434DCBB}"/>
                  </a:ext>
                </a:extLst>
              </p:cNvPr>
              <p:cNvGrpSpPr/>
              <p:nvPr/>
            </p:nvGrpSpPr>
            <p:grpSpPr>
              <a:xfrm>
                <a:off x="1290583" y="123190"/>
                <a:ext cx="1565275" cy="1559915"/>
                <a:chOff x="1290583" y="123190"/>
                <a:chExt cx="1565275" cy="1559915"/>
              </a:xfrm>
            </p:grpSpPr>
            <p:sp>
              <p:nvSpPr>
                <p:cNvPr id="211" name="Flowchart: Process 210">
                  <a:extLst>
                    <a:ext uri="{FF2B5EF4-FFF2-40B4-BE49-F238E27FC236}">
                      <a16:creationId xmlns:a16="http://schemas.microsoft.com/office/drawing/2014/main" id="{C3190897-7C09-E52B-5AF3-833EC3F5D171}"/>
                    </a:ext>
                  </a:extLst>
                </p:cNvPr>
                <p:cNvSpPr/>
                <p:nvPr/>
              </p:nvSpPr>
              <p:spPr>
                <a:xfrm>
                  <a:off x="1290583" y="123190"/>
                  <a:ext cx="1565275" cy="241161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000" b="1" kern="100" dirty="0">
                      <a:solidFill>
                        <a:srgbClr val="0E2841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Controller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2" name="Flowchart: Process 211">
                  <a:extLst>
                    <a:ext uri="{FF2B5EF4-FFF2-40B4-BE49-F238E27FC236}">
                      <a16:creationId xmlns:a16="http://schemas.microsoft.com/office/drawing/2014/main" id="{10D7CCD0-511B-FC4C-3642-6C7B4A717FF2}"/>
                    </a:ext>
                  </a:extLst>
                </p:cNvPr>
                <p:cNvSpPr/>
                <p:nvPr/>
              </p:nvSpPr>
              <p:spPr>
                <a:xfrm>
                  <a:off x="1468383" y="567690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UserController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3" name="Flowchart: Process 212">
                  <a:extLst>
                    <a:ext uri="{FF2B5EF4-FFF2-40B4-BE49-F238E27FC236}">
                      <a16:creationId xmlns:a16="http://schemas.microsoft.com/office/drawing/2014/main" id="{C761AA0D-078A-7E74-12BD-F35C07EACD4A}"/>
                    </a:ext>
                  </a:extLst>
                </p:cNvPr>
                <p:cNvSpPr/>
                <p:nvPr/>
              </p:nvSpPr>
              <p:spPr>
                <a:xfrm>
                  <a:off x="1468383" y="948690"/>
                  <a:ext cx="1184910" cy="233680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AdminController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4" name="Flowchart: Process 213">
                  <a:extLst>
                    <a:ext uri="{FF2B5EF4-FFF2-40B4-BE49-F238E27FC236}">
                      <a16:creationId xmlns:a16="http://schemas.microsoft.com/office/drawing/2014/main" id="{41D68DE8-1477-84DE-9080-F37E6145D915}"/>
                    </a:ext>
                  </a:extLst>
                </p:cNvPr>
                <p:cNvSpPr/>
                <p:nvPr/>
              </p:nvSpPr>
              <p:spPr>
                <a:xfrm>
                  <a:off x="1470061" y="1334770"/>
                  <a:ext cx="1184910" cy="348335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MiniSmartMeter</a:t>
                  </a:r>
                  <a:b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</a:br>
                  <a:r>
                    <a:rPr lang="en-US" sz="7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(main class)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6940D778-70AF-C84F-BBE9-0CA180470821}"/>
                </a:ext>
              </a:extLst>
            </p:cNvPr>
            <p:cNvGrpSpPr/>
            <p:nvPr/>
          </p:nvGrpSpPr>
          <p:grpSpPr>
            <a:xfrm>
              <a:off x="2470149" y="115570"/>
              <a:ext cx="3190100" cy="4776470"/>
              <a:chOff x="2470149" y="115570"/>
              <a:chExt cx="1565351" cy="2095688"/>
            </a:xfrm>
          </p:grpSpPr>
          <p:sp>
            <p:nvSpPr>
              <p:cNvPr id="185" name="Flowchart: Process 184">
                <a:extLst>
                  <a:ext uri="{FF2B5EF4-FFF2-40B4-BE49-F238E27FC236}">
                    <a16:creationId xmlns:a16="http://schemas.microsoft.com/office/drawing/2014/main" id="{488FC63B-E3CB-2F36-4AAD-D0BA9B4660CA}"/>
                  </a:ext>
                </a:extLst>
              </p:cNvPr>
              <p:cNvSpPr/>
              <p:nvPr/>
            </p:nvSpPr>
            <p:spPr>
              <a:xfrm>
                <a:off x="2470225" y="120977"/>
                <a:ext cx="1565275" cy="2090281"/>
              </a:xfrm>
              <a:prstGeom prst="flowChartProcess">
                <a:avLst/>
              </a:prstGeom>
              <a:solidFill>
                <a:schemeClr val="bg1"/>
              </a:solidFill>
              <a:ln w="952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00">
                    <a:solidFill>
                      <a:srgbClr val="000000"/>
                    </a:solidFill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 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DFF82BB8-D9EE-B536-4100-CAA270A4F17E}"/>
                  </a:ext>
                </a:extLst>
              </p:cNvPr>
              <p:cNvGrpSpPr/>
              <p:nvPr/>
            </p:nvGrpSpPr>
            <p:grpSpPr>
              <a:xfrm>
                <a:off x="2470149" y="115570"/>
                <a:ext cx="1565275" cy="2026847"/>
                <a:chOff x="2470149" y="115570"/>
                <a:chExt cx="1565275" cy="2026847"/>
              </a:xfrm>
            </p:grpSpPr>
            <p:sp>
              <p:nvSpPr>
                <p:cNvPr id="187" name="Flowchart: Process 186">
                  <a:extLst>
                    <a:ext uri="{FF2B5EF4-FFF2-40B4-BE49-F238E27FC236}">
                      <a16:creationId xmlns:a16="http://schemas.microsoft.com/office/drawing/2014/main" id="{A892605B-0F6E-033E-1C75-064A54FB3230}"/>
                    </a:ext>
                  </a:extLst>
                </p:cNvPr>
                <p:cNvSpPr/>
                <p:nvPr/>
              </p:nvSpPr>
              <p:spPr>
                <a:xfrm>
                  <a:off x="2520406" y="864722"/>
                  <a:ext cx="1474311" cy="85531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DAO Layer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8" name="Flowchart: Process 187">
                  <a:extLst>
                    <a:ext uri="{FF2B5EF4-FFF2-40B4-BE49-F238E27FC236}">
                      <a16:creationId xmlns:a16="http://schemas.microsoft.com/office/drawing/2014/main" id="{1F1D7A56-EF04-F72F-6347-8FAA73E8F433}"/>
                    </a:ext>
                  </a:extLst>
                </p:cNvPr>
                <p:cNvSpPr/>
                <p:nvPr/>
              </p:nvSpPr>
              <p:spPr>
                <a:xfrm>
                  <a:off x="2470149" y="115570"/>
                  <a:ext cx="1565275" cy="11109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000" b="1" kern="100">
                      <a:solidFill>
                        <a:srgbClr val="0E2841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Model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9" name="Flowchart: Process 188">
                  <a:extLst>
                    <a:ext uri="{FF2B5EF4-FFF2-40B4-BE49-F238E27FC236}">
                      <a16:creationId xmlns:a16="http://schemas.microsoft.com/office/drawing/2014/main" id="{98F55C81-1CC6-ED07-BD6A-6CC8FFBFD0AE}"/>
                    </a:ext>
                  </a:extLst>
                </p:cNvPr>
                <p:cNvSpPr/>
                <p:nvPr/>
              </p:nvSpPr>
              <p:spPr>
                <a:xfrm>
                  <a:off x="2520246" y="267729"/>
                  <a:ext cx="1474311" cy="557919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000" kern="100" dirty="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Service Layer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" name="Flowchart: Process 189">
                  <a:extLst>
                    <a:ext uri="{FF2B5EF4-FFF2-40B4-BE49-F238E27FC236}">
                      <a16:creationId xmlns:a16="http://schemas.microsoft.com/office/drawing/2014/main" id="{724D84CC-1BE2-2EA6-93A0-EFFF569C3EE2}"/>
                    </a:ext>
                  </a:extLst>
                </p:cNvPr>
                <p:cNvSpPr/>
                <p:nvPr/>
              </p:nvSpPr>
              <p:spPr>
                <a:xfrm>
                  <a:off x="2520406" y="354006"/>
                  <a:ext cx="517562" cy="11848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UserServiceImpl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" name="Flowchart: Process 190">
                  <a:extLst>
                    <a:ext uri="{FF2B5EF4-FFF2-40B4-BE49-F238E27FC236}">
                      <a16:creationId xmlns:a16="http://schemas.microsoft.com/office/drawing/2014/main" id="{B6640967-8BA9-E036-E47E-D0F16FC3E98F}"/>
                    </a:ext>
                  </a:extLst>
                </p:cNvPr>
                <p:cNvSpPr/>
                <p:nvPr/>
              </p:nvSpPr>
              <p:spPr>
                <a:xfrm>
                  <a:off x="3495881" y="355126"/>
                  <a:ext cx="498676" cy="117389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BillingServiceImpl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" name="Flowchart: Process 191">
                  <a:extLst>
                    <a:ext uri="{FF2B5EF4-FFF2-40B4-BE49-F238E27FC236}">
                      <a16:creationId xmlns:a16="http://schemas.microsoft.com/office/drawing/2014/main" id="{C49AE740-D210-AA92-33FB-3D9B0261ED09}"/>
                    </a:ext>
                  </a:extLst>
                </p:cNvPr>
                <p:cNvSpPr/>
                <p:nvPr/>
              </p:nvSpPr>
              <p:spPr>
                <a:xfrm>
                  <a:off x="3006136" y="355150"/>
                  <a:ext cx="529088" cy="11773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 dirty="0" err="1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AdminServiceImpl</a:t>
                  </a:r>
                  <a:endParaRPr lang="en-US" sz="1100" kern="100" dirty="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" name="Flowchart: Process 192">
                  <a:extLst>
                    <a:ext uri="{FF2B5EF4-FFF2-40B4-BE49-F238E27FC236}">
                      <a16:creationId xmlns:a16="http://schemas.microsoft.com/office/drawing/2014/main" id="{E0FFEFBC-1451-1EAF-4540-194EEBF342FF}"/>
                    </a:ext>
                  </a:extLst>
                </p:cNvPr>
                <p:cNvSpPr/>
                <p:nvPr/>
              </p:nvSpPr>
              <p:spPr>
                <a:xfrm>
                  <a:off x="2708354" y="493202"/>
                  <a:ext cx="554085" cy="112242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600" b="1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MeterReadingServiceImpl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4" name="Flowchart: Process 193">
                  <a:extLst>
                    <a:ext uri="{FF2B5EF4-FFF2-40B4-BE49-F238E27FC236}">
                      <a16:creationId xmlns:a16="http://schemas.microsoft.com/office/drawing/2014/main" id="{C7398985-14B1-561D-915E-4528B2B947E8}"/>
                    </a:ext>
                  </a:extLst>
                </p:cNvPr>
                <p:cNvSpPr/>
                <p:nvPr/>
              </p:nvSpPr>
              <p:spPr>
                <a:xfrm>
                  <a:off x="3302406" y="493206"/>
                  <a:ext cx="490433" cy="112238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ReportServiceImpl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5" name="Flowchart: Process 194">
                  <a:extLst>
                    <a:ext uri="{FF2B5EF4-FFF2-40B4-BE49-F238E27FC236}">
                      <a16:creationId xmlns:a16="http://schemas.microsoft.com/office/drawing/2014/main" id="{AAEB74A5-F00A-AD7A-EDBC-69A1DFF09BF2}"/>
                    </a:ext>
                  </a:extLst>
                </p:cNvPr>
                <p:cNvSpPr/>
                <p:nvPr/>
              </p:nvSpPr>
              <p:spPr>
                <a:xfrm>
                  <a:off x="3022428" y="657556"/>
                  <a:ext cx="490433" cy="168092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LogSubject</a:t>
                  </a:r>
                  <a:b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</a:b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(Singleton)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6" name="Flowchart: Process 195">
                  <a:extLst>
                    <a:ext uri="{FF2B5EF4-FFF2-40B4-BE49-F238E27FC236}">
                      <a16:creationId xmlns:a16="http://schemas.microsoft.com/office/drawing/2014/main" id="{F54AFAC1-EA21-0CBE-A8DD-070A824C333D}"/>
                    </a:ext>
                  </a:extLst>
                </p:cNvPr>
                <p:cNvSpPr/>
                <p:nvPr/>
              </p:nvSpPr>
              <p:spPr>
                <a:xfrm>
                  <a:off x="2547571" y="962690"/>
                  <a:ext cx="508061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BillDAOImpl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7" name="Flowchart: Process 196">
                  <a:extLst>
                    <a:ext uri="{FF2B5EF4-FFF2-40B4-BE49-F238E27FC236}">
                      <a16:creationId xmlns:a16="http://schemas.microsoft.com/office/drawing/2014/main" id="{12B98303-EC01-ABFE-2996-3B02F7204F15}"/>
                    </a:ext>
                  </a:extLst>
                </p:cNvPr>
                <p:cNvSpPr/>
                <p:nvPr/>
              </p:nvSpPr>
              <p:spPr>
                <a:xfrm>
                  <a:off x="2547534" y="1082359"/>
                  <a:ext cx="508061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8" name="Flowchart: Process 197">
                  <a:extLst>
                    <a:ext uri="{FF2B5EF4-FFF2-40B4-BE49-F238E27FC236}">
                      <a16:creationId xmlns:a16="http://schemas.microsoft.com/office/drawing/2014/main" id="{80B8100B-14DE-3803-0C5E-818D0227782F}"/>
                    </a:ext>
                  </a:extLst>
                </p:cNvPr>
                <p:cNvSpPr/>
                <p:nvPr/>
              </p:nvSpPr>
              <p:spPr>
                <a:xfrm>
                  <a:off x="2547558" y="1199342"/>
                  <a:ext cx="508074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" name="Flowchart: Process 198">
                  <a:extLst>
                    <a:ext uri="{FF2B5EF4-FFF2-40B4-BE49-F238E27FC236}">
                      <a16:creationId xmlns:a16="http://schemas.microsoft.com/office/drawing/2014/main" id="{5C93CCE3-E9D1-8DCC-72BB-35E33035A49C}"/>
                    </a:ext>
                  </a:extLst>
                </p:cNvPr>
                <p:cNvSpPr/>
                <p:nvPr/>
              </p:nvSpPr>
              <p:spPr>
                <a:xfrm>
                  <a:off x="2547556" y="1321890"/>
                  <a:ext cx="508079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ReportDAOImpl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" name="Flowchart: Process 199">
                  <a:extLst>
                    <a:ext uri="{FF2B5EF4-FFF2-40B4-BE49-F238E27FC236}">
                      <a16:creationId xmlns:a16="http://schemas.microsoft.com/office/drawing/2014/main" id="{D46C7BF4-0F32-96EB-309B-ACF1FCCBC2C8}"/>
                    </a:ext>
                  </a:extLst>
                </p:cNvPr>
                <p:cNvSpPr/>
                <p:nvPr/>
              </p:nvSpPr>
              <p:spPr>
                <a:xfrm>
                  <a:off x="2547561" y="1444523"/>
                  <a:ext cx="508074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PaymentDAOImpl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1" name="Flowchart: Process 200">
                  <a:extLst>
                    <a:ext uri="{FF2B5EF4-FFF2-40B4-BE49-F238E27FC236}">
                      <a16:creationId xmlns:a16="http://schemas.microsoft.com/office/drawing/2014/main" id="{3A719142-CDA6-1646-702A-8A2FF812EA38}"/>
                    </a:ext>
                  </a:extLst>
                </p:cNvPr>
                <p:cNvSpPr/>
                <p:nvPr/>
              </p:nvSpPr>
              <p:spPr>
                <a:xfrm>
                  <a:off x="2547555" y="1566978"/>
                  <a:ext cx="508102" cy="122654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600" b="1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MeterReadingDAOImpl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2" name="Flowchart: Process 201">
                  <a:extLst>
                    <a:ext uri="{FF2B5EF4-FFF2-40B4-BE49-F238E27FC236}">
                      <a16:creationId xmlns:a16="http://schemas.microsoft.com/office/drawing/2014/main" id="{6149DE70-19F4-7380-FF79-B612D1786F9A}"/>
                    </a:ext>
                  </a:extLst>
                </p:cNvPr>
                <p:cNvSpPr/>
                <p:nvPr/>
              </p:nvSpPr>
              <p:spPr>
                <a:xfrm>
                  <a:off x="3472323" y="1602241"/>
                  <a:ext cx="437290" cy="92806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8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LogObserver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3" name="Flowchart: Process 202">
                  <a:extLst>
                    <a:ext uri="{FF2B5EF4-FFF2-40B4-BE49-F238E27FC236}">
                      <a16:creationId xmlns:a16="http://schemas.microsoft.com/office/drawing/2014/main" id="{41DC0149-3445-1C07-CAEA-03C185ECA280}"/>
                    </a:ext>
                  </a:extLst>
                </p:cNvPr>
                <p:cNvSpPr/>
                <p:nvPr/>
              </p:nvSpPr>
              <p:spPr>
                <a:xfrm>
                  <a:off x="2520406" y="1752675"/>
                  <a:ext cx="1474311" cy="389742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Entity Model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4" name="Flowchart: Process 203">
                  <a:extLst>
                    <a:ext uri="{FF2B5EF4-FFF2-40B4-BE49-F238E27FC236}">
                      <a16:creationId xmlns:a16="http://schemas.microsoft.com/office/drawing/2014/main" id="{F9517B4C-3E14-4680-14A3-02598D985D9A}"/>
                    </a:ext>
                  </a:extLst>
                </p:cNvPr>
                <p:cNvSpPr/>
                <p:nvPr/>
              </p:nvSpPr>
              <p:spPr>
                <a:xfrm>
                  <a:off x="2597319" y="1863975"/>
                  <a:ext cx="280743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User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5" name="Flowchart: Process 204">
                  <a:extLst>
                    <a:ext uri="{FF2B5EF4-FFF2-40B4-BE49-F238E27FC236}">
                      <a16:creationId xmlns:a16="http://schemas.microsoft.com/office/drawing/2014/main" id="{87AA6CFC-503B-EE57-17B1-025B87D2022B}"/>
                    </a:ext>
                  </a:extLst>
                </p:cNvPr>
                <p:cNvSpPr/>
                <p:nvPr/>
              </p:nvSpPr>
              <p:spPr>
                <a:xfrm>
                  <a:off x="2948227" y="1863410"/>
                  <a:ext cx="280743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Admin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6" name="Flowchart: Process 205">
                  <a:extLst>
                    <a:ext uri="{FF2B5EF4-FFF2-40B4-BE49-F238E27FC236}">
                      <a16:creationId xmlns:a16="http://schemas.microsoft.com/office/drawing/2014/main" id="{72D34699-C27C-B05E-3D67-DDEBCA4561DF}"/>
                    </a:ext>
                  </a:extLst>
                </p:cNvPr>
                <p:cNvSpPr/>
                <p:nvPr/>
              </p:nvSpPr>
              <p:spPr>
                <a:xfrm>
                  <a:off x="3302406" y="1865297"/>
                  <a:ext cx="280743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Bill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7" name="Flowchart: Process 206">
                  <a:extLst>
                    <a:ext uri="{FF2B5EF4-FFF2-40B4-BE49-F238E27FC236}">
                      <a16:creationId xmlns:a16="http://schemas.microsoft.com/office/drawing/2014/main" id="{FB2864B0-95ED-BA3B-1D80-3E77AA6D4ADC}"/>
                    </a:ext>
                  </a:extLst>
                </p:cNvPr>
                <p:cNvSpPr/>
                <p:nvPr/>
              </p:nvSpPr>
              <p:spPr>
                <a:xfrm>
                  <a:off x="3055123" y="2007184"/>
                  <a:ext cx="434567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MeterReading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8" name="Flowchart: Process 207">
                  <a:extLst>
                    <a:ext uri="{FF2B5EF4-FFF2-40B4-BE49-F238E27FC236}">
                      <a16:creationId xmlns:a16="http://schemas.microsoft.com/office/drawing/2014/main" id="{6133474B-6454-70B5-C620-534DD6DEED4A}"/>
                    </a:ext>
                  </a:extLst>
                </p:cNvPr>
                <p:cNvSpPr/>
                <p:nvPr/>
              </p:nvSpPr>
              <p:spPr>
                <a:xfrm>
                  <a:off x="3645339" y="1866722"/>
                  <a:ext cx="280743" cy="103373"/>
                </a:xfrm>
                <a:prstGeom prst="flowChartProcess">
                  <a:avLst/>
                </a:prstGeom>
                <a:solidFill>
                  <a:schemeClr val="bg1"/>
                </a:solidFill>
                <a:ln w="952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6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900" kern="100">
                      <a:solidFill>
                        <a:srgbClr val="000000"/>
                      </a:solidFill>
                      <a:effectLst/>
                      <a:ea typeface="Aptos" panose="020B0004020202020204" pitchFamily="34" charset="0"/>
                      <a:cs typeface="Arial" panose="020B0604020202020204" pitchFamily="34" charset="0"/>
                    </a:rPr>
                    <a:t>Report</a:t>
                  </a:r>
                  <a:endParaRPr lang="en-US" sz="1100" kern="100">
                    <a:effectLst/>
                    <a:ea typeface="Aptos" panose="020B00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64" name="Flowchart: Magnetic Disk 163">
              <a:extLst>
                <a:ext uri="{FF2B5EF4-FFF2-40B4-BE49-F238E27FC236}">
                  <a16:creationId xmlns:a16="http://schemas.microsoft.com/office/drawing/2014/main" id="{F605590A-0B79-E79D-7CDD-48A6DF9A0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085" y="2296946"/>
              <a:ext cx="1017911" cy="816502"/>
            </a:xfrm>
            <a:prstGeom prst="flowChartMagneticDisk">
              <a:avLst/>
            </a:prstGeom>
            <a:solidFill>
              <a:srgbClr val="FFFFFF"/>
            </a:solidFill>
            <a:ln w="9525">
              <a:solidFill>
                <a:srgbClr val="030E13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algn="ctr" eaLnBrk="0" fontAlgn="base" hangingPunct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000" kern="1200" dirty="0" err="1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DBConnection</a:t>
              </a:r>
              <a:br>
                <a:rPr lang="en-US" sz="1000" kern="12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</a:br>
              <a:r>
                <a:rPr lang="en-US" sz="1000" kern="1200" dirty="0">
                  <a:solidFill>
                    <a:srgbClr val="000000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(Singleton)</a:t>
              </a:r>
              <a:endPara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01C54BF7-CB2A-B076-5603-3A2BD23765B2}"/>
                </a:ext>
              </a:extLst>
            </p:cNvPr>
            <p:cNvCxnSpPr/>
            <p:nvPr/>
          </p:nvCxnSpPr>
          <p:spPr>
            <a:xfrm>
              <a:off x="998051" y="678180"/>
              <a:ext cx="412987" cy="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Connector: Elbow 165">
              <a:extLst>
                <a:ext uri="{FF2B5EF4-FFF2-40B4-BE49-F238E27FC236}">
                  <a16:creationId xmlns:a16="http://schemas.microsoft.com/office/drawing/2014/main" id="{F8EBDB69-47D8-BF39-69A5-6A1421D95CAF}"/>
                </a:ext>
              </a:extLst>
            </p:cNvPr>
            <p:cNvCxnSpPr/>
            <p:nvPr/>
          </p:nvCxnSpPr>
          <p:spPr>
            <a:xfrm flipV="1">
              <a:off x="999716" y="683895"/>
              <a:ext cx="411876" cy="353695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Connector: Elbow 166">
              <a:extLst>
                <a:ext uri="{FF2B5EF4-FFF2-40B4-BE49-F238E27FC236}">
                  <a16:creationId xmlns:a16="http://schemas.microsoft.com/office/drawing/2014/main" id="{53ACB351-2AB1-4EC7-6A13-500C7701A9BD}"/>
                </a:ext>
              </a:extLst>
            </p:cNvPr>
            <p:cNvCxnSpPr/>
            <p:nvPr/>
          </p:nvCxnSpPr>
          <p:spPr>
            <a:xfrm flipV="1">
              <a:off x="995831" y="1067435"/>
              <a:ext cx="410766" cy="343535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Connector: Elbow 167">
              <a:extLst>
                <a:ext uri="{FF2B5EF4-FFF2-40B4-BE49-F238E27FC236}">
                  <a16:creationId xmlns:a16="http://schemas.microsoft.com/office/drawing/2014/main" id="{058EC85D-346F-3B4F-6FBD-4796C1C67C2C}"/>
                </a:ext>
              </a:extLst>
            </p:cNvPr>
            <p:cNvCxnSpPr/>
            <p:nvPr/>
          </p:nvCxnSpPr>
          <p:spPr>
            <a:xfrm flipV="1">
              <a:off x="999716" y="1489710"/>
              <a:ext cx="411876" cy="302895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66AD57E3-D97F-FB73-37F2-376ED39D9E05}"/>
                </a:ext>
              </a:extLst>
            </p:cNvPr>
            <p:cNvCxnSpPr/>
            <p:nvPr/>
          </p:nvCxnSpPr>
          <p:spPr>
            <a:xfrm>
              <a:off x="4127646" y="927100"/>
              <a:ext cx="0" cy="41148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Connector: Elbow 169">
              <a:extLst>
                <a:ext uri="{FF2B5EF4-FFF2-40B4-BE49-F238E27FC236}">
                  <a16:creationId xmlns:a16="http://schemas.microsoft.com/office/drawing/2014/main" id="{C373D311-D442-2BCF-812F-06B1D6861A21}"/>
                </a:ext>
              </a:extLst>
            </p:cNvPr>
            <p:cNvCxnSpPr/>
            <p:nvPr/>
          </p:nvCxnSpPr>
          <p:spPr>
            <a:xfrm flipH="1">
              <a:off x="4598362" y="932180"/>
              <a:ext cx="817092" cy="554990"/>
            </a:xfrm>
            <a:prstGeom prst="bentConnector3">
              <a:avLst>
                <a:gd name="adj1" fmla="val 577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Connector: Elbow 170">
              <a:extLst>
                <a:ext uri="{FF2B5EF4-FFF2-40B4-BE49-F238E27FC236}">
                  <a16:creationId xmlns:a16="http://schemas.microsoft.com/office/drawing/2014/main" id="{615A65DA-F81C-899D-6324-77F153C66D2D}"/>
                </a:ext>
              </a:extLst>
            </p:cNvPr>
            <p:cNvCxnSpPr>
              <a:cxnSpLocks/>
            </p:cNvCxnSpPr>
            <p:nvPr/>
          </p:nvCxnSpPr>
          <p:spPr>
            <a:xfrm>
              <a:off x="4599902" y="1561703"/>
              <a:ext cx="340128" cy="731520"/>
            </a:xfrm>
            <a:prstGeom prst="bentConnector2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Connector: Elbow 171">
              <a:extLst>
                <a:ext uri="{FF2B5EF4-FFF2-40B4-BE49-F238E27FC236}">
                  <a16:creationId xmlns:a16="http://schemas.microsoft.com/office/drawing/2014/main" id="{2C497C0B-5215-FFFC-0FB0-C6877BB296DA}"/>
                </a:ext>
              </a:extLst>
            </p:cNvPr>
            <p:cNvCxnSpPr>
              <a:cxnSpLocks/>
              <a:stCxn id="196" idx="3"/>
            </p:cNvCxnSpPr>
            <p:nvPr/>
          </p:nvCxnSpPr>
          <p:spPr>
            <a:xfrm>
              <a:off x="3663332" y="2186093"/>
              <a:ext cx="737973" cy="513927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Connector: Elbow 172">
              <a:extLst>
                <a:ext uri="{FF2B5EF4-FFF2-40B4-BE49-F238E27FC236}">
                  <a16:creationId xmlns:a16="http://schemas.microsoft.com/office/drawing/2014/main" id="{ECE216AA-1AD4-F23A-5DF7-427DBAACDFF7}"/>
                </a:ext>
              </a:extLst>
            </p:cNvPr>
            <p:cNvCxnSpPr>
              <a:cxnSpLocks/>
            </p:cNvCxnSpPr>
            <p:nvPr/>
          </p:nvCxnSpPr>
          <p:spPr>
            <a:xfrm>
              <a:off x="3659446" y="2467353"/>
              <a:ext cx="741304" cy="232032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Connector: Elbow 173">
              <a:extLst>
                <a:ext uri="{FF2B5EF4-FFF2-40B4-BE49-F238E27FC236}">
                  <a16:creationId xmlns:a16="http://schemas.microsoft.com/office/drawing/2014/main" id="{9E3986F2-3B80-B5B6-0A6A-E3DC1B3BB422}"/>
                </a:ext>
              </a:extLst>
            </p:cNvPr>
            <p:cNvCxnSpPr>
              <a:cxnSpLocks/>
              <a:stCxn id="198" idx="3"/>
            </p:cNvCxnSpPr>
            <p:nvPr/>
          </p:nvCxnSpPr>
          <p:spPr>
            <a:xfrm flipV="1">
              <a:off x="3663331" y="2700020"/>
              <a:ext cx="736309" cy="25448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Connector: Elbow 174">
              <a:extLst>
                <a:ext uri="{FF2B5EF4-FFF2-40B4-BE49-F238E27FC236}">
                  <a16:creationId xmlns:a16="http://schemas.microsoft.com/office/drawing/2014/main" id="{4D8C00C8-A3B6-F2E8-80D3-DB485745040A}"/>
                </a:ext>
              </a:extLst>
            </p:cNvPr>
            <p:cNvCxnSpPr>
              <a:cxnSpLocks/>
              <a:stCxn id="199" idx="3"/>
            </p:cNvCxnSpPr>
            <p:nvPr/>
          </p:nvCxnSpPr>
          <p:spPr>
            <a:xfrm flipV="1">
              <a:off x="3663337" y="2697480"/>
              <a:ext cx="735193" cy="307298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Connector: Elbow 175">
              <a:extLst>
                <a:ext uri="{FF2B5EF4-FFF2-40B4-BE49-F238E27FC236}">
                  <a16:creationId xmlns:a16="http://schemas.microsoft.com/office/drawing/2014/main" id="{58C0F773-982C-A331-8C70-B06B7713A323}"/>
                </a:ext>
              </a:extLst>
            </p:cNvPr>
            <p:cNvCxnSpPr>
              <a:cxnSpLocks/>
              <a:stCxn id="200" idx="3"/>
            </p:cNvCxnSpPr>
            <p:nvPr/>
          </p:nvCxnSpPr>
          <p:spPr>
            <a:xfrm flipV="1">
              <a:off x="3663337" y="2697480"/>
              <a:ext cx="734083" cy="586801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Connector: Elbow 176">
              <a:extLst>
                <a:ext uri="{FF2B5EF4-FFF2-40B4-BE49-F238E27FC236}">
                  <a16:creationId xmlns:a16="http://schemas.microsoft.com/office/drawing/2014/main" id="{106F8CA1-AF6C-0222-1391-29A489E93833}"/>
                </a:ext>
              </a:extLst>
            </p:cNvPr>
            <p:cNvCxnSpPr/>
            <p:nvPr/>
          </p:nvCxnSpPr>
          <p:spPr>
            <a:xfrm flipV="1">
              <a:off x="3663591" y="2700020"/>
              <a:ext cx="737714" cy="866775"/>
            </a:xfrm>
            <a:prstGeom prst="bentConnector3">
              <a:avLst>
                <a:gd name="adj1" fmla="val 49622"/>
              </a:avLst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Connector: Elbow 177">
              <a:extLst>
                <a:ext uri="{FF2B5EF4-FFF2-40B4-BE49-F238E27FC236}">
                  <a16:creationId xmlns:a16="http://schemas.microsoft.com/office/drawing/2014/main" id="{A48CB340-40C8-18A6-DF67-C507118BA5C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761556" y="3298098"/>
              <a:ext cx="365760" cy="554"/>
            </a:xfrm>
            <a:prstGeom prst="bentConnector3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Connector: Elbow 178">
              <a:extLst>
                <a:ext uri="{FF2B5EF4-FFF2-40B4-BE49-F238E27FC236}">
                  <a16:creationId xmlns:a16="http://schemas.microsoft.com/office/drawing/2014/main" id="{6229239E-3A44-0EB8-DB27-E23F7D434EA4}"/>
                </a:ext>
              </a:extLst>
            </p:cNvPr>
            <p:cNvCxnSpPr>
              <a:cxnSpLocks/>
              <a:stCxn id="202" idx="2"/>
            </p:cNvCxnSpPr>
            <p:nvPr/>
          </p:nvCxnSpPr>
          <p:spPr>
            <a:xfrm rot="5400000">
              <a:off x="4550464" y="3567451"/>
              <a:ext cx="259602" cy="555695"/>
            </a:xfrm>
            <a:prstGeom prst="bentConnector2">
              <a:avLst/>
            </a:prstGeom>
            <a:ln w="952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Connector: Elbow 179">
              <a:extLst>
                <a:ext uri="{FF2B5EF4-FFF2-40B4-BE49-F238E27FC236}">
                  <a16:creationId xmlns:a16="http://schemas.microsoft.com/office/drawing/2014/main" id="{52AEE019-4DEA-8D97-A6B5-91578F62A847}"/>
                </a:ext>
              </a:extLst>
            </p:cNvPr>
            <p:cNvCxnSpPr>
              <a:stCxn id="212" idx="3"/>
              <a:endCxn id="189" idx="1"/>
            </p:cNvCxnSpPr>
            <p:nvPr/>
          </p:nvCxnSpPr>
          <p:spPr>
            <a:xfrm>
              <a:off x="2244857" y="683115"/>
              <a:ext cx="327387" cy="415056"/>
            </a:xfrm>
            <a:prstGeom prst="bentConnector3">
              <a:avLst>
                <a:gd name="adj1" fmla="val 55819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Connector: Elbow 180">
              <a:extLst>
                <a:ext uri="{FF2B5EF4-FFF2-40B4-BE49-F238E27FC236}">
                  <a16:creationId xmlns:a16="http://schemas.microsoft.com/office/drawing/2014/main" id="{C4AD17B4-97FF-FBAC-6925-10B359F67872}"/>
                </a:ext>
              </a:extLst>
            </p:cNvPr>
            <p:cNvCxnSpPr>
              <a:cxnSpLocks/>
            </p:cNvCxnSpPr>
            <p:nvPr/>
          </p:nvCxnSpPr>
          <p:spPr>
            <a:xfrm>
              <a:off x="2261046" y="1100552"/>
              <a:ext cx="311198" cy="1"/>
            </a:xfrm>
            <a:prstGeom prst="bentConnector3">
              <a:avLst>
                <a:gd name="adj1" fmla="val 50000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Connector: Elbow 181">
              <a:extLst>
                <a:ext uri="{FF2B5EF4-FFF2-40B4-BE49-F238E27FC236}">
                  <a16:creationId xmlns:a16="http://schemas.microsoft.com/office/drawing/2014/main" id="{AF719EDA-616E-0291-720E-1CBB7B2B16ED}"/>
                </a:ext>
              </a:extLst>
            </p:cNvPr>
            <p:cNvCxnSpPr>
              <a:cxnSpLocks/>
            </p:cNvCxnSpPr>
            <p:nvPr/>
          </p:nvCxnSpPr>
          <p:spPr>
            <a:xfrm>
              <a:off x="2822804" y="931438"/>
              <a:ext cx="769638" cy="568985"/>
            </a:xfrm>
            <a:prstGeom prst="bentConnector3">
              <a:avLst>
                <a:gd name="adj1" fmla="val -123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Connector: Elbow 182">
              <a:extLst>
                <a:ext uri="{FF2B5EF4-FFF2-40B4-BE49-F238E27FC236}">
                  <a16:creationId xmlns:a16="http://schemas.microsoft.com/office/drawing/2014/main" id="{6FD320E5-40A9-352B-F173-B940CF9C3D6B}"/>
                </a:ext>
              </a:extLst>
            </p:cNvPr>
            <p:cNvCxnSpPr>
              <a:cxnSpLocks/>
            </p:cNvCxnSpPr>
            <p:nvPr/>
          </p:nvCxnSpPr>
          <p:spPr>
            <a:xfrm>
              <a:off x="3215371" y="1232086"/>
              <a:ext cx="377071" cy="268337"/>
            </a:xfrm>
            <a:prstGeom prst="bentConnector3">
              <a:avLst>
                <a:gd name="adj1" fmla="val 2005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Connector: Elbow 183">
              <a:extLst>
                <a:ext uri="{FF2B5EF4-FFF2-40B4-BE49-F238E27FC236}">
                  <a16:creationId xmlns:a16="http://schemas.microsoft.com/office/drawing/2014/main" id="{68893D84-FB10-970E-765B-43B517D0D540}"/>
                </a:ext>
              </a:extLst>
            </p:cNvPr>
            <p:cNvCxnSpPr/>
            <p:nvPr/>
          </p:nvCxnSpPr>
          <p:spPr>
            <a:xfrm rot="10800000" flipV="1">
              <a:off x="4595140" y="1239202"/>
              <a:ext cx="384531" cy="247968"/>
            </a:xfrm>
            <a:prstGeom prst="bentConnector3">
              <a:avLst>
                <a:gd name="adj1" fmla="val -366"/>
              </a:avLst>
            </a:prstGeom>
            <a:ln w="952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1C6F5096-D592-DB03-FE73-C9A9E7FA590F}"/>
              </a:ext>
            </a:extLst>
          </p:cNvPr>
          <p:cNvSpPr txBox="1"/>
          <p:nvPr/>
        </p:nvSpPr>
        <p:spPr>
          <a:xfrm>
            <a:off x="8590987" y="2446130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الفكرة الأساسية للنمط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4DC22B52-7BB4-FF69-8B52-00A3CC10A416}"/>
              </a:ext>
            </a:extLst>
          </p:cNvPr>
          <p:cNvSpPr txBox="1"/>
          <p:nvPr/>
        </p:nvSpPr>
        <p:spPr>
          <a:xfrm>
            <a:off x="8584066" y="3104468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التطبيق  في المشروع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5DC9760-1CF1-3FCE-BFDC-141C5F5FDE2C}"/>
              </a:ext>
            </a:extLst>
          </p:cNvPr>
          <p:cNvSpPr txBox="1"/>
          <p:nvPr/>
        </p:nvSpPr>
        <p:spPr>
          <a:xfrm>
            <a:off x="8590987" y="375981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المزايا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AC220480-F11E-DC36-D690-61ADFA251F75}"/>
              </a:ext>
            </a:extLst>
          </p:cNvPr>
          <p:cNvSpPr txBox="1"/>
          <p:nvPr/>
        </p:nvSpPr>
        <p:spPr>
          <a:xfrm>
            <a:off x="8584064" y="442326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العيوب</a:t>
            </a:r>
          </a:p>
        </p:txBody>
      </p:sp>
    </p:spTree>
    <p:extLst>
      <p:ext uri="{BB962C8B-B14F-4D97-AF65-F5344CB8AC3E}">
        <p14:creationId xmlns:p14="http://schemas.microsoft.com/office/powerpoint/2010/main" val="2427882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222" grpId="0"/>
      <p:bldP spid="223" grpId="0"/>
      <p:bldP spid="225" grpId="0"/>
      <p:bldP spid="2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6707645" y="219261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6. أنماط التصميم المستخدمة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91568C-DA21-293D-7CA0-852078255D9B}"/>
              </a:ext>
            </a:extLst>
          </p:cNvPr>
          <p:cNvSpPr txBox="1"/>
          <p:nvPr/>
        </p:nvSpPr>
        <p:spPr>
          <a:xfrm>
            <a:off x="8958709" y="1765123"/>
            <a:ext cx="2576961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6.2</a:t>
            </a:r>
            <a:r>
              <a:rPr lang="ar-LY" dirty="0">
                <a:latin typeface="Cairo" pitchFamily="2" charset="-78"/>
                <a:cs typeface="Cairo" pitchFamily="2" charset="-78"/>
              </a:rPr>
              <a:t> </a:t>
            </a:r>
            <a:r>
              <a:rPr lang="en-US" b="1" dirty="0">
                <a:latin typeface="Cairo" pitchFamily="2" charset="-78"/>
                <a:cs typeface="Cairo" pitchFamily="2" charset="-78"/>
              </a:rPr>
              <a:t>Observer Pattern</a:t>
            </a:r>
            <a:endParaRPr lang="ar-LY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-4541425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(MVC + Layers) 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5. بنية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CC80BF5-A570-ED3C-904A-E57511857940}"/>
              </a:ext>
            </a:extLst>
          </p:cNvPr>
          <p:cNvSpPr/>
          <p:nvPr/>
        </p:nvSpPr>
        <p:spPr>
          <a:xfrm>
            <a:off x="809626" y="1285875"/>
            <a:ext cx="6334124" cy="5189713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E66A62-6EB1-A3A4-810B-ED81BC6B1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570" y="1457989"/>
            <a:ext cx="6169352" cy="4888519"/>
          </a:xfrm>
          <a:prstGeom prst="rect">
            <a:avLst/>
          </a:prstGeom>
        </p:spPr>
      </p:pic>
      <p:sp>
        <p:nvSpPr>
          <p:cNvPr id="99" name="Rectangle: Single Corner Snipped 98">
            <a:extLst>
              <a:ext uri="{FF2B5EF4-FFF2-40B4-BE49-F238E27FC236}">
                <a16:creationId xmlns:a16="http://schemas.microsoft.com/office/drawing/2014/main" id="{15657C8A-1C72-5DC2-8202-26284FB52AE9}"/>
              </a:ext>
            </a:extLst>
          </p:cNvPr>
          <p:cNvSpPr/>
          <p:nvPr/>
        </p:nvSpPr>
        <p:spPr>
          <a:xfrm>
            <a:off x="1328831" y="5207195"/>
            <a:ext cx="1113462" cy="277563"/>
          </a:xfrm>
          <a:prstGeom prst="snip1Rect">
            <a:avLst>
              <a:gd name="adj" fmla="val 15683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EEDF7-B80E-EAEA-2758-ECD2A75BF00A}"/>
              </a:ext>
            </a:extLst>
          </p:cNvPr>
          <p:cNvSpPr txBox="1"/>
          <p:nvPr/>
        </p:nvSpPr>
        <p:spPr>
          <a:xfrm>
            <a:off x="8590987" y="2446130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الفكرة الأساسية للنمط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8AD9C-77F6-B8FB-CFF9-509DD92D2869}"/>
              </a:ext>
            </a:extLst>
          </p:cNvPr>
          <p:cNvSpPr txBox="1"/>
          <p:nvPr/>
        </p:nvSpPr>
        <p:spPr>
          <a:xfrm>
            <a:off x="8584066" y="3104468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التطبيق  في المشروع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41EE39-1715-04F1-FE1A-39A7A9A33876}"/>
              </a:ext>
            </a:extLst>
          </p:cNvPr>
          <p:cNvSpPr txBox="1"/>
          <p:nvPr/>
        </p:nvSpPr>
        <p:spPr>
          <a:xfrm>
            <a:off x="8590987" y="375981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المزايا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D6C5BF-F976-5D88-F5DB-32B79827DA12}"/>
              </a:ext>
            </a:extLst>
          </p:cNvPr>
          <p:cNvSpPr txBox="1"/>
          <p:nvPr/>
        </p:nvSpPr>
        <p:spPr>
          <a:xfrm>
            <a:off x="8584064" y="442326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العيوب</a:t>
            </a:r>
          </a:p>
        </p:txBody>
      </p:sp>
    </p:spTree>
    <p:extLst>
      <p:ext uri="{BB962C8B-B14F-4D97-AF65-F5344CB8AC3E}">
        <p14:creationId xmlns:p14="http://schemas.microsoft.com/office/powerpoint/2010/main" val="2295569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6707645" y="219261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6. أنماط التصميم المستخدمة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91568C-DA21-293D-7CA0-852078255D9B}"/>
              </a:ext>
            </a:extLst>
          </p:cNvPr>
          <p:cNvSpPr txBox="1"/>
          <p:nvPr/>
        </p:nvSpPr>
        <p:spPr>
          <a:xfrm>
            <a:off x="8758684" y="1828912"/>
            <a:ext cx="2700786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6.3</a:t>
            </a:r>
            <a:r>
              <a:rPr lang="ar-LY" dirty="0">
                <a:latin typeface="Cairo" pitchFamily="2" charset="-78"/>
                <a:cs typeface="Cairo" pitchFamily="2" charset="-78"/>
              </a:rPr>
              <a:t> </a:t>
            </a:r>
            <a:r>
              <a:rPr lang="en-US" b="1" dirty="0">
                <a:latin typeface="Cairo" pitchFamily="2" charset="-78"/>
                <a:cs typeface="Cairo" pitchFamily="2" charset="-78"/>
              </a:rPr>
              <a:t>Factory  Pattern</a:t>
            </a:r>
            <a:endParaRPr lang="ar-LY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-4541425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(MVC + Layers) 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5. بنية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CC80BF5-A570-ED3C-904A-E57511857940}"/>
              </a:ext>
            </a:extLst>
          </p:cNvPr>
          <p:cNvSpPr/>
          <p:nvPr/>
        </p:nvSpPr>
        <p:spPr>
          <a:xfrm>
            <a:off x="996959" y="1387331"/>
            <a:ext cx="6318535" cy="508635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background with white text">
            <a:extLst>
              <a:ext uri="{FF2B5EF4-FFF2-40B4-BE49-F238E27FC236}">
                <a16:creationId xmlns:a16="http://schemas.microsoft.com/office/drawing/2014/main" id="{26743B25-5917-088C-DD6D-498501A9C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49" y="1437977"/>
            <a:ext cx="6145245" cy="50101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30B396-7399-172C-5F0F-4624CBD53737}"/>
              </a:ext>
            </a:extLst>
          </p:cNvPr>
          <p:cNvSpPr txBox="1"/>
          <p:nvPr/>
        </p:nvSpPr>
        <p:spPr>
          <a:xfrm>
            <a:off x="8514787" y="2446130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الفكرة الأساسية للنمط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BE400D-E8DA-C6EE-1DA1-A0779A918BF7}"/>
              </a:ext>
            </a:extLst>
          </p:cNvPr>
          <p:cNvSpPr txBox="1"/>
          <p:nvPr/>
        </p:nvSpPr>
        <p:spPr>
          <a:xfrm>
            <a:off x="8507866" y="3104468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التطبيق  في المشروع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1A81E-48B4-D767-C83D-41FFD8B4ABE9}"/>
              </a:ext>
            </a:extLst>
          </p:cNvPr>
          <p:cNvSpPr txBox="1"/>
          <p:nvPr/>
        </p:nvSpPr>
        <p:spPr>
          <a:xfrm>
            <a:off x="8514787" y="375981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المزايا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FCBF9C-80AC-E49F-4FF4-AB22F9C7BB6C}"/>
              </a:ext>
            </a:extLst>
          </p:cNvPr>
          <p:cNvSpPr txBox="1"/>
          <p:nvPr/>
        </p:nvSpPr>
        <p:spPr>
          <a:xfrm>
            <a:off x="8507864" y="442326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العيوب</a:t>
            </a:r>
          </a:p>
        </p:txBody>
      </p:sp>
    </p:spTree>
    <p:extLst>
      <p:ext uri="{BB962C8B-B14F-4D97-AF65-F5344CB8AC3E}">
        <p14:creationId xmlns:p14="http://schemas.microsoft.com/office/powerpoint/2010/main" val="772799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6707645" y="219261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6. أنماط التصميم المستخدمة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91568C-DA21-293D-7CA0-852078255D9B}"/>
              </a:ext>
            </a:extLst>
          </p:cNvPr>
          <p:cNvSpPr txBox="1"/>
          <p:nvPr/>
        </p:nvSpPr>
        <p:spPr>
          <a:xfrm>
            <a:off x="9187309" y="1775177"/>
            <a:ext cx="2253111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6.4</a:t>
            </a:r>
            <a:r>
              <a:rPr lang="ar-LY" dirty="0">
                <a:latin typeface="Cairo" pitchFamily="2" charset="-78"/>
                <a:cs typeface="Cairo" pitchFamily="2" charset="-78"/>
              </a:rPr>
              <a:t> </a:t>
            </a:r>
            <a:r>
              <a:rPr lang="en-US" b="1" dirty="0">
                <a:latin typeface="Cairo" pitchFamily="2" charset="-78"/>
                <a:cs typeface="Cairo" pitchFamily="2" charset="-78"/>
              </a:rPr>
              <a:t>Strategy  Pattern</a:t>
            </a:r>
            <a:endParaRPr lang="ar-LY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-4541425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(MVC + Layers) 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5. بنية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CC80BF5-A570-ED3C-904A-E57511857940}"/>
              </a:ext>
            </a:extLst>
          </p:cNvPr>
          <p:cNvSpPr/>
          <p:nvPr/>
        </p:nvSpPr>
        <p:spPr>
          <a:xfrm>
            <a:off x="1169955" y="1756127"/>
            <a:ext cx="6528290" cy="417794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ack background with a white square&#10;&#10;AI-generated content may be incorrect.">
            <a:extLst>
              <a:ext uri="{FF2B5EF4-FFF2-40B4-BE49-F238E27FC236}">
                <a16:creationId xmlns:a16="http://schemas.microsoft.com/office/drawing/2014/main" id="{A6A8DC99-6758-4D6D-809A-7B79C03F4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611" y="1835890"/>
            <a:ext cx="6250533" cy="40374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B35C1A-77FF-FCC3-306D-8D94A655FAA8}"/>
              </a:ext>
            </a:extLst>
          </p:cNvPr>
          <p:cNvSpPr txBox="1"/>
          <p:nvPr/>
        </p:nvSpPr>
        <p:spPr>
          <a:xfrm>
            <a:off x="8495737" y="2446130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الفكرة الأساسية للنمط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8905E-1E8D-FD70-9666-E019ED51B6AB}"/>
              </a:ext>
            </a:extLst>
          </p:cNvPr>
          <p:cNvSpPr txBox="1"/>
          <p:nvPr/>
        </p:nvSpPr>
        <p:spPr>
          <a:xfrm>
            <a:off x="8488816" y="3104468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التطبيق  في المشروع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59223-22B3-2495-12E9-29737CA3AA8A}"/>
              </a:ext>
            </a:extLst>
          </p:cNvPr>
          <p:cNvSpPr txBox="1"/>
          <p:nvPr/>
        </p:nvSpPr>
        <p:spPr>
          <a:xfrm>
            <a:off x="8495737" y="375981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المزايا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4EC7E-1E69-1C73-AD5E-FB47928F5240}"/>
              </a:ext>
            </a:extLst>
          </p:cNvPr>
          <p:cNvSpPr txBox="1"/>
          <p:nvPr/>
        </p:nvSpPr>
        <p:spPr>
          <a:xfrm>
            <a:off x="8488814" y="442326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العيوب</a:t>
            </a:r>
          </a:p>
        </p:txBody>
      </p:sp>
    </p:spTree>
    <p:extLst>
      <p:ext uri="{BB962C8B-B14F-4D97-AF65-F5344CB8AC3E}">
        <p14:creationId xmlns:p14="http://schemas.microsoft.com/office/powerpoint/2010/main" val="1198618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6707645" y="219261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6. أنماط التصميم المستخدمة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91568C-DA21-293D-7CA0-852078255D9B}"/>
              </a:ext>
            </a:extLst>
          </p:cNvPr>
          <p:cNvSpPr txBox="1"/>
          <p:nvPr/>
        </p:nvSpPr>
        <p:spPr>
          <a:xfrm>
            <a:off x="8963025" y="1775177"/>
            <a:ext cx="2401195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6.5</a:t>
            </a:r>
            <a:r>
              <a:rPr lang="ar-LY" dirty="0">
                <a:latin typeface="Cairo" pitchFamily="2" charset="-78"/>
                <a:cs typeface="Cairo" pitchFamily="2" charset="-78"/>
              </a:rPr>
              <a:t> </a:t>
            </a:r>
            <a:r>
              <a:rPr lang="en-US" b="1" dirty="0">
                <a:latin typeface="Cairo" pitchFamily="2" charset="-78"/>
                <a:cs typeface="Cairo" pitchFamily="2" charset="-78"/>
              </a:rPr>
              <a:t>Template  Pattern</a:t>
            </a:r>
            <a:endParaRPr lang="ar-LY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-4541425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(MVC + Layers) 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5. بنية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CC80BF5-A570-ED3C-904A-E57511857940}"/>
              </a:ext>
            </a:extLst>
          </p:cNvPr>
          <p:cNvSpPr/>
          <p:nvPr/>
        </p:nvSpPr>
        <p:spPr>
          <a:xfrm>
            <a:off x="600076" y="1485900"/>
            <a:ext cx="6555928" cy="5010150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35C1A-77FF-FCC3-306D-8D94A655FAA8}"/>
              </a:ext>
            </a:extLst>
          </p:cNvPr>
          <p:cNvSpPr txBox="1"/>
          <p:nvPr/>
        </p:nvSpPr>
        <p:spPr>
          <a:xfrm>
            <a:off x="8419537" y="2446130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الفكرة الأساسية للنمط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8905E-1E8D-FD70-9666-E019ED51B6AB}"/>
              </a:ext>
            </a:extLst>
          </p:cNvPr>
          <p:cNvSpPr txBox="1"/>
          <p:nvPr/>
        </p:nvSpPr>
        <p:spPr>
          <a:xfrm>
            <a:off x="8412616" y="3104468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التطبيق  في المشروع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59223-22B3-2495-12E9-29737CA3AA8A}"/>
              </a:ext>
            </a:extLst>
          </p:cNvPr>
          <p:cNvSpPr txBox="1"/>
          <p:nvPr/>
        </p:nvSpPr>
        <p:spPr>
          <a:xfrm>
            <a:off x="8419537" y="375981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المزايا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4EC7E-1E69-1C73-AD5E-FB47928F5240}"/>
              </a:ext>
            </a:extLst>
          </p:cNvPr>
          <p:cNvSpPr txBox="1"/>
          <p:nvPr/>
        </p:nvSpPr>
        <p:spPr>
          <a:xfrm>
            <a:off x="8412614" y="442326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العيوب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7DE920-2F72-59C7-E7BD-CC8629873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89" y="1639402"/>
            <a:ext cx="6272744" cy="469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93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6707645" y="219261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6. أنماط التصميم المستخدمة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91568C-DA21-293D-7CA0-852078255D9B}"/>
              </a:ext>
            </a:extLst>
          </p:cNvPr>
          <p:cNvSpPr txBox="1"/>
          <p:nvPr/>
        </p:nvSpPr>
        <p:spPr>
          <a:xfrm>
            <a:off x="9115425" y="1775177"/>
            <a:ext cx="2401195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6.6</a:t>
            </a:r>
            <a:r>
              <a:rPr lang="ar-LY" dirty="0">
                <a:latin typeface="Cairo" pitchFamily="2" charset="-78"/>
                <a:cs typeface="Cairo" pitchFamily="2" charset="-78"/>
              </a:rPr>
              <a:t> </a:t>
            </a:r>
            <a:r>
              <a:rPr lang="en-US" b="1" dirty="0">
                <a:latin typeface="Cairo" pitchFamily="2" charset="-78"/>
                <a:cs typeface="Cairo" pitchFamily="2" charset="-78"/>
              </a:rPr>
              <a:t>Facade  Pattern</a:t>
            </a:r>
            <a:endParaRPr lang="ar-LY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-4541425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(MVC + Layers) 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5. بنية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CC80BF5-A570-ED3C-904A-E57511857940}"/>
              </a:ext>
            </a:extLst>
          </p:cNvPr>
          <p:cNvSpPr/>
          <p:nvPr/>
        </p:nvSpPr>
        <p:spPr>
          <a:xfrm>
            <a:off x="638176" y="2067392"/>
            <a:ext cx="5638799" cy="312373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35C1A-77FF-FCC3-306D-8D94A655FAA8}"/>
              </a:ext>
            </a:extLst>
          </p:cNvPr>
          <p:cNvSpPr txBox="1"/>
          <p:nvPr/>
        </p:nvSpPr>
        <p:spPr>
          <a:xfrm>
            <a:off x="8571937" y="2446130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الفكرة الأساسية للنمط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8905E-1E8D-FD70-9666-E019ED51B6AB}"/>
              </a:ext>
            </a:extLst>
          </p:cNvPr>
          <p:cNvSpPr txBox="1"/>
          <p:nvPr/>
        </p:nvSpPr>
        <p:spPr>
          <a:xfrm>
            <a:off x="8565016" y="3104468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التطبيق  في المشروع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59223-22B3-2495-12E9-29737CA3AA8A}"/>
              </a:ext>
            </a:extLst>
          </p:cNvPr>
          <p:cNvSpPr txBox="1"/>
          <p:nvPr/>
        </p:nvSpPr>
        <p:spPr>
          <a:xfrm>
            <a:off x="8571937" y="375981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المزايا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4EC7E-1E69-1C73-AD5E-FB47928F5240}"/>
              </a:ext>
            </a:extLst>
          </p:cNvPr>
          <p:cNvSpPr txBox="1"/>
          <p:nvPr/>
        </p:nvSpPr>
        <p:spPr>
          <a:xfrm>
            <a:off x="8565014" y="442326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العيوب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7DE920-2F72-59C7-E7BD-CC8629873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0580" y="2854940"/>
            <a:ext cx="5303520" cy="16758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A3A4F0-7C8B-A023-7DD8-117887D9C009}"/>
              </a:ext>
            </a:extLst>
          </p:cNvPr>
          <p:cNvSpPr txBox="1"/>
          <p:nvPr/>
        </p:nvSpPr>
        <p:spPr>
          <a:xfrm>
            <a:off x="6572544" y="-4538702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>
                <a:latin typeface="Cairo" pitchFamily="2" charset="-78"/>
                <a:cs typeface="Cairo" pitchFamily="2" charset="-78"/>
              </a:rPr>
              <a:t>(ERD)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7. تصميم قاعدة البيانات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FAE83-1D13-4F00-2AD8-C62BDF41E1FA}"/>
              </a:ext>
            </a:extLst>
          </p:cNvPr>
          <p:cNvSpPr txBox="1"/>
          <p:nvPr/>
        </p:nvSpPr>
        <p:spPr>
          <a:xfrm>
            <a:off x="11590231" y="861778"/>
            <a:ext cx="313314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6.7 التكامل بين الأنماط</a:t>
            </a:r>
          </a:p>
        </p:txBody>
      </p:sp>
    </p:spTree>
    <p:extLst>
      <p:ext uri="{BB962C8B-B14F-4D97-AF65-F5344CB8AC3E}">
        <p14:creationId xmlns:p14="http://schemas.microsoft.com/office/powerpoint/2010/main" val="2273032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DD135CC-A8F2-E380-2F30-6695DE1599F0}"/>
              </a:ext>
            </a:extLst>
          </p:cNvPr>
          <p:cNvSpPr/>
          <p:nvPr/>
        </p:nvSpPr>
        <p:spPr>
          <a:xfrm>
            <a:off x="546100" y="1345772"/>
            <a:ext cx="11083924" cy="539792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6707645" y="219261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6. أنماط التصميم المستخدمة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91568C-DA21-293D-7CA0-852078255D9B}"/>
              </a:ext>
            </a:extLst>
          </p:cNvPr>
          <p:cNvSpPr txBox="1"/>
          <p:nvPr/>
        </p:nvSpPr>
        <p:spPr>
          <a:xfrm>
            <a:off x="15420975" y="1775177"/>
            <a:ext cx="2401195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6.6</a:t>
            </a:r>
            <a:r>
              <a:rPr lang="ar-LY" dirty="0">
                <a:latin typeface="Cairo" pitchFamily="2" charset="-78"/>
                <a:cs typeface="Cairo" pitchFamily="2" charset="-78"/>
              </a:rPr>
              <a:t> </a:t>
            </a:r>
            <a:r>
              <a:rPr lang="en-US" b="1" dirty="0">
                <a:latin typeface="Cairo" pitchFamily="2" charset="-78"/>
                <a:cs typeface="Cairo" pitchFamily="2" charset="-78"/>
              </a:rPr>
              <a:t>Facade  Pattern</a:t>
            </a:r>
            <a:endParaRPr lang="ar-LY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-4541425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/>
              <a:t>(MVC + Layers) 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5. بنية النظام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35C1A-77FF-FCC3-306D-8D94A655FAA8}"/>
              </a:ext>
            </a:extLst>
          </p:cNvPr>
          <p:cNvSpPr txBox="1"/>
          <p:nvPr/>
        </p:nvSpPr>
        <p:spPr>
          <a:xfrm>
            <a:off x="14877487" y="2446130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الفكرة الأساسية للنمط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18905E-1E8D-FD70-9666-E019ED51B6AB}"/>
              </a:ext>
            </a:extLst>
          </p:cNvPr>
          <p:cNvSpPr txBox="1"/>
          <p:nvPr/>
        </p:nvSpPr>
        <p:spPr>
          <a:xfrm>
            <a:off x="14870566" y="3104468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التطبيق  في المشروع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59223-22B3-2495-12E9-29737CA3AA8A}"/>
              </a:ext>
            </a:extLst>
          </p:cNvPr>
          <p:cNvSpPr txBox="1"/>
          <p:nvPr/>
        </p:nvSpPr>
        <p:spPr>
          <a:xfrm>
            <a:off x="14877487" y="375981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المزايا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4EC7E-1E69-1C73-AD5E-FB47928F5240}"/>
              </a:ext>
            </a:extLst>
          </p:cNvPr>
          <p:cNvSpPr txBox="1"/>
          <p:nvPr/>
        </p:nvSpPr>
        <p:spPr>
          <a:xfrm>
            <a:off x="14870564" y="4423265"/>
            <a:ext cx="25198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LY" sz="1600" dirty="0">
                <a:latin typeface="Cairo" pitchFamily="2" charset="-78"/>
                <a:cs typeface="Cairo" pitchFamily="2" charset="-78"/>
              </a:rPr>
              <a:t>العيوب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A3A4F0-7C8B-A023-7DD8-117887D9C009}"/>
              </a:ext>
            </a:extLst>
          </p:cNvPr>
          <p:cNvSpPr txBox="1"/>
          <p:nvPr/>
        </p:nvSpPr>
        <p:spPr>
          <a:xfrm>
            <a:off x="6572544" y="-4538702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>
                <a:latin typeface="Cairo" pitchFamily="2" charset="-78"/>
                <a:cs typeface="Cairo" pitchFamily="2" charset="-78"/>
              </a:rPr>
              <a:t>(ERD)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7. تصميم قاعدة البيانات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B4AFC8C-95B4-D161-C0B8-3BBE8C0CEF18}"/>
              </a:ext>
            </a:extLst>
          </p:cNvPr>
          <p:cNvGrpSpPr/>
          <p:nvPr/>
        </p:nvGrpSpPr>
        <p:grpSpPr>
          <a:xfrm>
            <a:off x="770311" y="1453477"/>
            <a:ext cx="10607040" cy="5212080"/>
            <a:chOff x="952556" y="1492117"/>
            <a:chExt cx="10489454" cy="471336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C7ECF5-98BD-8A64-698E-592C37F04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52556" y="3429000"/>
              <a:ext cx="3657600" cy="2689410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54E64CA-CB7D-A4AC-039C-B86251661EBA}"/>
                </a:ext>
              </a:extLst>
            </p:cNvPr>
            <p:cNvGrpSpPr/>
            <p:nvPr/>
          </p:nvGrpSpPr>
          <p:grpSpPr>
            <a:xfrm>
              <a:off x="3701218" y="1492117"/>
              <a:ext cx="7740792" cy="4713362"/>
              <a:chOff x="3731387" y="1456138"/>
              <a:chExt cx="7740792" cy="4713362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592C1353-1AEB-CDC7-71DB-B05A4E9D4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357379" y="2847791"/>
                <a:ext cx="4114800" cy="3321709"/>
              </a:xfrm>
              <a:prstGeom prst="rect">
                <a:avLst/>
              </a:prstGeom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CF8A395-96E4-A8F8-69A7-AC6982005EC2}"/>
                  </a:ext>
                </a:extLst>
              </p:cNvPr>
              <p:cNvGrpSpPr/>
              <p:nvPr/>
            </p:nvGrpSpPr>
            <p:grpSpPr>
              <a:xfrm>
                <a:off x="3731387" y="1456138"/>
                <a:ext cx="4139015" cy="3291840"/>
                <a:chOff x="3731387" y="1456138"/>
                <a:chExt cx="4139015" cy="3291840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1E6421D5-3C79-3D8F-8B8E-3164F1B928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731387" y="1456138"/>
                  <a:ext cx="4139015" cy="3291840"/>
                </a:xfrm>
                <a:prstGeom prst="rect">
                  <a:avLst/>
                </a:prstGeom>
              </p:spPr>
            </p:pic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D02E94D7-D910-E013-1C42-B75C10B68F66}"/>
                    </a:ext>
                  </a:extLst>
                </p:cNvPr>
                <p:cNvCxnSpPr/>
                <p:nvPr/>
              </p:nvCxnSpPr>
              <p:spPr>
                <a:xfrm>
                  <a:off x="6591300" y="4516755"/>
                  <a:ext cx="766079" cy="0"/>
                </a:xfrm>
                <a:prstGeom prst="straightConnector1">
                  <a:avLst/>
                </a:prstGeom>
                <a:ln w="635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53EBAB64-2D1F-B8C5-DE24-61932C50BAB8}"/>
                  </a:ext>
                </a:extLst>
              </p:cNvPr>
              <p:cNvGrpSpPr/>
              <p:nvPr/>
            </p:nvGrpSpPr>
            <p:grpSpPr>
              <a:xfrm>
                <a:off x="4786940" y="4756150"/>
                <a:ext cx="3200400" cy="1337117"/>
                <a:chOff x="5029835" y="4756150"/>
                <a:chExt cx="3200400" cy="1337117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17C2AAC-0406-71D0-4786-92A4FF651149}"/>
                    </a:ext>
                  </a:extLst>
                </p:cNvPr>
                <p:cNvGrpSpPr/>
                <p:nvPr/>
              </p:nvGrpSpPr>
              <p:grpSpPr>
                <a:xfrm>
                  <a:off x="5029835" y="4756150"/>
                  <a:ext cx="3200400" cy="1337117"/>
                  <a:chOff x="5252085" y="4718050"/>
                  <a:chExt cx="3200400" cy="1337117"/>
                </a:xfrm>
              </p:grpSpPr>
              <p:pic>
                <p:nvPicPr>
                  <p:cNvPr id="24" name="Picture 23" descr="A black background with a white text&#10;&#10;AI-generated content may be incorrect.">
                    <a:extLst>
                      <a:ext uri="{FF2B5EF4-FFF2-40B4-BE49-F238E27FC236}">
                        <a16:creationId xmlns:a16="http://schemas.microsoft.com/office/drawing/2014/main" id="{F46F4593-43A0-A359-6B66-A49B5CA1C6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2085" y="5043856"/>
                    <a:ext cx="3200400" cy="1011311"/>
                  </a:xfrm>
                  <a:prstGeom prst="rect">
                    <a:avLst/>
                  </a:prstGeom>
                </p:spPr>
              </p:pic>
              <p:cxnSp>
                <p:nvCxnSpPr>
                  <p:cNvPr id="25" name="Straight Arrow Connector 24">
                    <a:extLst>
                      <a:ext uri="{FF2B5EF4-FFF2-40B4-BE49-F238E27FC236}">
                        <a16:creationId xmlns:a16="http://schemas.microsoft.com/office/drawing/2014/main" id="{C89FAD16-6117-50DB-7C4A-5BBA34E6B6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5623560" y="4878070"/>
                    <a:ext cx="320040" cy="0"/>
                  </a:xfrm>
                  <a:prstGeom prst="straightConnector1">
                    <a:avLst/>
                  </a:prstGeom>
                  <a:ln w="6350">
                    <a:prstDash val="sysDash"/>
                    <a:tailEnd type="stealt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38E9D5D-7DE1-77EB-2A5E-F92737CC7A7C}"/>
                    </a:ext>
                  </a:extLst>
                </p:cNvPr>
                <p:cNvSpPr txBox="1"/>
                <p:nvPr/>
              </p:nvSpPr>
              <p:spPr>
                <a:xfrm>
                  <a:off x="5384800" y="4860774"/>
                  <a:ext cx="365760" cy="1538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Uses</a:t>
                  </a:r>
                </a:p>
              </p:txBody>
            </p:sp>
          </p:grp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2D23D5-90E0-37AE-F0BE-EF3F3487268F}"/>
                </a:ext>
              </a:extLst>
            </p:cNvPr>
            <p:cNvSpPr/>
            <p:nvPr/>
          </p:nvSpPr>
          <p:spPr>
            <a:xfrm>
              <a:off x="7839368" y="4947089"/>
              <a:ext cx="542925" cy="2154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D52433-FD3B-7BA4-93A6-F18F0C83F935}"/>
                </a:ext>
              </a:extLst>
            </p:cNvPr>
            <p:cNvSpPr txBox="1"/>
            <p:nvPr/>
          </p:nvSpPr>
          <p:spPr>
            <a:xfrm>
              <a:off x="7923241" y="4961645"/>
              <a:ext cx="36576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Uses</a:t>
              </a:r>
              <a:endParaRPr lang="en-US" sz="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A896AC28-5ACE-5CCF-469E-C7A2BDECD49D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 rot="16200000" flipH="1">
              <a:off x="8386433" y="4828846"/>
              <a:ext cx="548640" cy="1099844"/>
            </a:xfrm>
            <a:prstGeom prst="bentConnector2">
              <a:avLst/>
            </a:prstGeom>
            <a:ln w="6350">
              <a:prstDash val="sysDash"/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68A52FB2-4346-23A4-0E44-FD6BBB394B6A}"/>
                </a:ext>
              </a:extLst>
            </p:cNvPr>
            <p:cNvCxnSpPr>
              <a:stCxn id="26" idx="2"/>
              <a:endCxn id="15" idx="1"/>
            </p:cNvCxnSpPr>
            <p:nvPr/>
          </p:nvCxnSpPr>
          <p:spPr>
            <a:xfrm rot="16200000" flipH="1">
              <a:off x="6669627" y="3885056"/>
              <a:ext cx="270840" cy="2068642"/>
            </a:xfrm>
            <a:prstGeom prst="bentConnector2">
              <a:avLst/>
            </a:prstGeom>
            <a:ln w="6350">
              <a:prstDash val="sys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F1E56AA-78F6-EACE-A06D-AC997F4D2456}"/>
              </a:ext>
            </a:extLst>
          </p:cNvPr>
          <p:cNvSpPr txBox="1"/>
          <p:nvPr/>
        </p:nvSpPr>
        <p:spPr>
          <a:xfrm>
            <a:off x="8008831" y="861778"/>
            <a:ext cx="313314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6.7 التكامل بين الأنماط</a:t>
            </a:r>
          </a:p>
        </p:txBody>
      </p:sp>
    </p:spTree>
    <p:extLst>
      <p:ext uri="{BB962C8B-B14F-4D97-AF65-F5344CB8AC3E}">
        <p14:creationId xmlns:p14="http://schemas.microsoft.com/office/powerpoint/2010/main" val="3117698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9AB12BC3-CEEE-7B8E-E946-1E0966256293}"/>
              </a:ext>
            </a:extLst>
          </p:cNvPr>
          <p:cNvSpPr/>
          <p:nvPr/>
        </p:nvSpPr>
        <p:spPr>
          <a:xfrm>
            <a:off x="-12531283" y="1345772"/>
            <a:ext cx="11083924" cy="539792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6707645" y="-4904285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6. أنماط التصميم المستخدمة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204748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>
                <a:latin typeface="Cairo" pitchFamily="2" charset="-78"/>
                <a:cs typeface="Cairo" pitchFamily="2" charset="-78"/>
              </a:rPr>
              <a:t>(ERD)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7. تصميم قاعدة البيانات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F626EB7-E971-B297-381F-740BC07070D4}"/>
              </a:ext>
            </a:extLst>
          </p:cNvPr>
          <p:cNvGrpSpPr/>
          <p:nvPr/>
        </p:nvGrpSpPr>
        <p:grpSpPr>
          <a:xfrm>
            <a:off x="3388995" y="1962711"/>
            <a:ext cx="5394960" cy="4765419"/>
            <a:chOff x="3377152" y="1315341"/>
            <a:chExt cx="5394960" cy="47654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80646B-9579-2EAA-B0F9-399AD349BE8D}"/>
                </a:ext>
              </a:extLst>
            </p:cNvPr>
            <p:cNvSpPr/>
            <p:nvPr/>
          </p:nvSpPr>
          <p:spPr>
            <a:xfrm>
              <a:off x="3377152" y="1315341"/>
              <a:ext cx="5394960" cy="476541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FE94332-ACF8-0949-4A15-95F6A3243906}"/>
                </a:ext>
              </a:extLst>
            </p:cNvPr>
            <p:cNvGrpSpPr/>
            <p:nvPr/>
          </p:nvGrpSpPr>
          <p:grpSpPr>
            <a:xfrm>
              <a:off x="5102544" y="2891169"/>
              <a:ext cx="1347195" cy="1218999"/>
              <a:chOff x="1911531" y="2141843"/>
              <a:chExt cx="1923690" cy="2796344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66344E1-CC0D-7838-5507-D1CE5BB51CD6}"/>
                  </a:ext>
                </a:extLst>
              </p:cNvPr>
              <p:cNvSpPr/>
              <p:nvPr/>
            </p:nvSpPr>
            <p:spPr>
              <a:xfrm>
                <a:off x="1911531" y="2461294"/>
                <a:ext cx="1923690" cy="2476893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username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password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balance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updated_at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7452876-AF60-EB4B-F6DE-5B816267FAA8}"/>
                  </a:ext>
                </a:extLst>
              </p:cNvPr>
              <p:cNvSpPr/>
              <p:nvPr/>
            </p:nvSpPr>
            <p:spPr>
              <a:xfrm>
                <a:off x="1911531" y="2141843"/>
                <a:ext cx="1923690" cy="406255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C344161-A70B-FD1E-FD84-E1C0B7221D2B}"/>
                </a:ext>
              </a:extLst>
            </p:cNvPr>
            <p:cNvGrpSpPr/>
            <p:nvPr/>
          </p:nvGrpSpPr>
          <p:grpSpPr>
            <a:xfrm>
              <a:off x="3449273" y="2898645"/>
              <a:ext cx="1145912" cy="1221713"/>
              <a:chOff x="92922" y="2289843"/>
              <a:chExt cx="1923690" cy="273402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BBE2B1A-0ECC-5681-4AC6-97DA3D758F8F}"/>
                  </a:ext>
                </a:extLst>
              </p:cNvPr>
              <p:cNvSpPr/>
              <p:nvPr/>
            </p:nvSpPr>
            <p:spPr>
              <a:xfrm>
                <a:off x="92922" y="2290098"/>
                <a:ext cx="1923690" cy="2733769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user_id</a:t>
                </a: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br>
                  <a:rPr lang="en-US" sz="1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bill_id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amount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method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payment_date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BC6473C-8744-20D2-AE81-16FB57AF45DC}"/>
                  </a:ext>
                </a:extLst>
              </p:cNvPr>
              <p:cNvSpPr/>
              <p:nvPr/>
            </p:nvSpPr>
            <p:spPr>
              <a:xfrm>
                <a:off x="92922" y="2289843"/>
                <a:ext cx="1923690" cy="471005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PAYMENTS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C195CB4-7B02-D66B-3D58-15FC23FAB85D}"/>
                </a:ext>
              </a:extLst>
            </p:cNvPr>
            <p:cNvGrpSpPr/>
            <p:nvPr/>
          </p:nvGrpSpPr>
          <p:grpSpPr>
            <a:xfrm>
              <a:off x="5055015" y="4545389"/>
              <a:ext cx="1540364" cy="1471892"/>
              <a:chOff x="1864199" y="4437272"/>
              <a:chExt cx="1923692" cy="2962084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9A4EF99-466D-30BB-5408-BD140A98D978}"/>
                  </a:ext>
                </a:extLst>
              </p:cNvPr>
              <p:cNvSpPr/>
              <p:nvPr/>
            </p:nvSpPr>
            <p:spPr>
              <a:xfrm>
                <a:off x="1864199" y="4515213"/>
                <a:ext cx="1923688" cy="2884143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user_id</a:t>
                </a: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  <a:b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meter_reading_id</a:t>
                </a: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Amount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consumption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status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created_at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updated_at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268675F-CD0A-CC69-C19F-B7F3262AA562}"/>
                  </a:ext>
                </a:extLst>
              </p:cNvPr>
              <p:cNvSpPr/>
              <p:nvPr/>
            </p:nvSpPr>
            <p:spPr>
              <a:xfrm>
                <a:off x="1864201" y="4437272"/>
                <a:ext cx="1923690" cy="411363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BILLS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F4210F6-C934-9304-7837-26F49679E54B}"/>
                </a:ext>
              </a:extLst>
            </p:cNvPr>
            <p:cNvGrpSpPr/>
            <p:nvPr/>
          </p:nvGrpSpPr>
          <p:grpSpPr>
            <a:xfrm>
              <a:off x="6930149" y="1419551"/>
              <a:ext cx="1491690" cy="1167839"/>
              <a:chOff x="3921909" y="190153"/>
              <a:chExt cx="1589452" cy="2826401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33CADFC-3404-D2A1-8B92-8E096D862F8A}"/>
                  </a:ext>
                </a:extLst>
              </p:cNvPr>
              <p:cNvSpPr/>
              <p:nvPr/>
            </p:nvSpPr>
            <p:spPr>
              <a:xfrm>
                <a:off x="3921910" y="190155"/>
                <a:ext cx="1589451" cy="2826399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9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user_id</a:t>
                </a: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reading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billed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created_at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EEED4CB-D445-CEB9-FEAC-761F97F4D9CF}"/>
                  </a:ext>
                </a:extLst>
              </p:cNvPr>
              <p:cNvSpPr/>
              <p:nvPr/>
            </p:nvSpPr>
            <p:spPr>
              <a:xfrm>
                <a:off x="3921909" y="190153"/>
                <a:ext cx="1589452" cy="436118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METER_READINGS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CA27F0E-7F48-F5D4-156A-3B0885F44716}"/>
                </a:ext>
              </a:extLst>
            </p:cNvPr>
            <p:cNvGrpSpPr/>
            <p:nvPr/>
          </p:nvGrpSpPr>
          <p:grpSpPr>
            <a:xfrm>
              <a:off x="3449273" y="1375067"/>
              <a:ext cx="1145912" cy="1071063"/>
              <a:chOff x="92922" y="134380"/>
              <a:chExt cx="1923690" cy="259219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8BFA029-3707-587D-FCF9-00E99C6615B1}"/>
                  </a:ext>
                </a:extLst>
              </p:cNvPr>
              <p:cNvSpPr/>
              <p:nvPr/>
            </p:nvSpPr>
            <p:spPr>
              <a:xfrm>
                <a:off x="92922" y="134380"/>
                <a:ext cx="1923690" cy="259219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8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username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password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created_at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E8A1F89-0668-ADF1-4ADF-F93D9C8D5764}"/>
                  </a:ext>
                </a:extLst>
              </p:cNvPr>
              <p:cNvSpPr/>
              <p:nvPr/>
            </p:nvSpPr>
            <p:spPr>
              <a:xfrm>
                <a:off x="92922" y="134380"/>
                <a:ext cx="1923690" cy="543718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ADMIN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F8D07B9-E7C6-A17F-D086-884F807D813D}"/>
                </a:ext>
              </a:extLst>
            </p:cNvPr>
            <p:cNvGrpSpPr/>
            <p:nvPr/>
          </p:nvGrpSpPr>
          <p:grpSpPr>
            <a:xfrm>
              <a:off x="7046952" y="3268049"/>
              <a:ext cx="1426718" cy="1330848"/>
              <a:chOff x="4046009" y="3128568"/>
              <a:chExt cx="1520224" cy="3052925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ED56EE7-46C2-C9EE-51EB-65813580E07B}"/>
                  </a:ext>
                </a:extLst>
              </p:cNvPr>
              <p:cNvSpPr/>
              <p:nvPr/>
            </p:nvSpPr>
            <p:spPr>
              <a:xfrm>
                <a:off x="4046014" y="3128739"/>
                <a:ext cx="1520219" cy="3052754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spcBef>
                    <a:spcPts val="0"/>
                  </a:spcBef>
                  <a:spcAft>
                    <a:spcPts val="800"/>
                  </a:spcAft>
                </a:pPr>
                <a:endParaRPr lang="en-US" sz="9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id PK</a:t>
                </a:r>
                <a:endParaRPr lang="en-US" sz="12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user_id</a:t>
                </a: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FK NULL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event_type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level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message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log_time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E2270E-AEA6-1CEC-4E68-1618843465C3}"/>
                  </a:ext>
                </a:extLst>
              </p:cNvPr>
              <p:cNvSpPr/>
              <p:nvPr/>
            </p:nvSpPr>
            <p:spPr>
              <a:xfrm>
                <a:off x="4046009" y="3128568"/>
                <a:ext cx="1520215" cy="523444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LOGS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142967F-EF37-E590-AEA8-CD10A433B16C}"/>
                </a:ext>
              </a:extLst>
            </p:cNvPr>
            <p:cNvGrpSpPr/>
            <p:nvPr/>
          </p:nvGrpSpPr>
          <p:grpSpPr>
            <a:xfrm>
              <a:off x="5047693" y="1357284"/>
              <a:ext cx="1402047" cy="1055624"/>
              <a:chOff x="1851195" y="112097"/>
              <a:chExt cx="1923690" cy="255481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2EE1FB9-C50E-8CB4-0B74-B6CA20867538}"/>
                  </a:ext>
                </a:extLst>
              </p:cNvPr>
              <p:cNvSpPr/>
              <p:nvPr/>
            </p:nvSpPr>
            <p:spPr>
              <a:xfrm>
                <a:off x="1851195" y="112097"/>
                <a:ext cx="1923690" cy="2554818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7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9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7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7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user_id</a:t>
                </a: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title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message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created_at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6E24F6A-292A-8942-50E9-DF67D650697D}"/>
                  </a:ext>
                </a:extLst>
              </p:cNvPr>
              <p:cNvSpPr/>
              <p:nvPr/>
            </p:nvSpPr>
            <p:spPr>
              <a:xfrm>
                <a:off x="1851195" y="112097"/>
                <a:ext cx="1923690" cy="477906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REPORTS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DD70CFAA-B4F1-B82B-BE55-24F3333D0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8875" y="2095555"/>
              <a:ext cx="480410" cy="892972"/>
            </a:xfrm>
            <a:prstGeom prst="bentConnector3">
              <a:avLst>
                <a:gd name="adj1" fmla="val 53138"/>
              </a:avLst>
            </a:prstGeom>
            <a:ln w="63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74E4BA7E-2B90-BFDE-9B0A-E5E1C649EC40}"/>
                </a:ext>
              </a:extLst>
            </p:cNvPr>
            <p:cNvCxnSpPr>
              <a:cxnSpLocks/>
            </p:cNvCxnSpPr>
            <p:nvPr/>
          </p:nvCxnSpPr>
          <p:spPr>
            <a:xfrm>
              <a:off x="6591997" y="2987922"/>
              <a:ext cx="470024" cy="401376"/>
            </a:xfrm>
            <a:prstGeom prst="bentConnector3">
              <a:avLst>
                <a:gd name="adj1" fmla="val 50000"/>
              </a:avLst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22A9D931-95DF-183A-33D2-508C02A5C0CD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rot="10800000" flipV="1">
              <a:off x="4595186" y="2979721"/>
              <a:ext cx="507359" cy="1"/>
            </a:xfrm>
            <a:prstGeom prst="bentConnector3">
              <a:avLst>
                <a:gd name="adj1" fmla="val 50000"/>
              </a:avLst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5F92FEEA-4134-F063-3570-EB689DA10752}"/>
                </a:ext>
              </a:extLst>
            </p:cNvPr>
            <p:cNvCxnSpPr>
              <a:cxnSpLocks/>
              <a:stCxn id="35" idx="1"/>
              <a:endCxn id="37" idx="2"/>
            </p:cNvCxnSpPr>
            <p:nvPr/>
          </p:nvCxnSpPr>
          <p:spPr>
            <a:xfrm rot="10800000">
              <a:off x="4022229" y="4120358"/>
              <a:ext cx="1032786" cy="1180342"/>
            </a:xfrm>
            <a:prstGeom prst="bentConnector2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57531A86-2EA3-682C-D087-6D5854BD11FE}"/>
                </a:ext>
              </a:extLst>
            </p:cNvPr>
            <p:cNvCxnSpPr>
              <a:cxnSpLocks/>
              <a:stCxn id="35" idx="3"/>
              <a:endCxn id="33" idx="3"/>
            </p:cNvCxnSpPr>
            <p:nvPr/>
          </p:nvCxnSpPr>
          <p:spPr>
            <a:xfrm flipV="1">
              <a:off x="6595376" y="2003471"/>
              <a:ext cx="1826463" cy="3297229"/>
            </a:xfrm>
            <a:prstGeom prst="bentConnector3">
              <a:avLst>
                <a:gd name="adj1" fmla="val 112516"/>
              </a:avLst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2496C4D3-2349-A1CF-2350-010C97BE1B5E}"/>
                </a:ext>
              </a:extLst>
            </p:cNvPr>
            <p:cNvCxnSpPr/>
            <p:nvPr/>
          </p:nvCxnSpPr>
          <p:spPr>
            <a:xfrm rot="16200000" flipV="1">
              <a:off x="5517762" y="2650997"/>
              <a:ext cx="457200" cy="0"/>
            </a:xfrm>
            <a:prstGeom prst="bentConnector3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6442C80C-EF33-FEB3-CBD0-56E831686231}"/>
                </a:ext>
              </a:extLst>
            </p:cNvPr>
            <p:cNvCxnSpPr/>
            <p:nvPr/>
          </p:nvCxnSpPr>
          <p:spPr>
            <a:xfrm rot="5400000">
              <a:off x="5593270" y="4326186"/>
              <a:ext cx="435987" cy="0"/>
            </a:xfrm>
            <a:prstGeom prst="bentConnector3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48A037B-4AAE-E1BF-EC20-AC9915C6BA1A}"/>
                </a:ext>
              </a:extLst>
            </p:cNvPr>
            <p:cNvSpPr txBox="1"/>
            <p:nvPr/>
          </p:nvSpPr>
          <p:spPr>
            <a:xfrm>
              <a:off x="5501611" y="4084915"/>
              <a:ext cx="408292" cy="440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b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b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DB5B0F9-0D8F-1EC6-90DB-DB340AD8A0E1}"/>
                </a:ext>
              </a:extLst>
            </p:cNvPr>
            <p:cNvSpPr txBox="1"/>
            <p:nvPr/>
          </p:nvSpPr>
          <p:spPr>
            <a:xfrm>
              <a:off x="6653072" y="3106682"/>
              <a:ext cx="351333" cy="2054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1:M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302B828-318B-FCFA-9E07-E80314212B26}"/>
                </a:ext>
              </a:extLst>
            </p:cNvPr>
            <p:cNvSpPr txBox="1"/>
            <p:nvPr/>
          </p:nvSpPr>
          <p:spPr>
            <a:xfrm>
              <a:off x="6559200" y="2376189"/>
              <a:ext cx="262184" cy="48426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b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b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ar-LY" sz="9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DB1CB27-0C4C-A248-C297-77F732102CC1}"/>
                </a:ext>
              </a:extLst>
            </p:cNvPr>
            <p:cNvSpPr txBox="1"/>
            <p:nvPr/>
          </p:nvSpPr>
          <p:spPr>
            <a:xfrm>
              <a:off x="8541733" y="2895341"/>
              <a:ext cx="187832" cy="52829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1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1:1</a:t>
              </a:r>
              <a:endParaRPr lang="ar-LY" sz="1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A1817EA-B3B4-368A-9CF5-EAF25D12ADEF}"/>
                </a:ext>
              </a:extLst>
            </p:cNvPr>
            <p:cNvSpPr txBox="1"/>
            <p:nvPr/>
          </p:nvSpPr>
          <p:spPr>
            <a:xfrm>
              <a:off x="4280605" y="5172212"/>
              <a:ext cx="368814" cy="2347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1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1:1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6AA4340-DD98-FBEF-F362-97F0CB4187DA}"/>
                </a:ext>
              </a:extLst>
            </p:cNvPr>
            <p:cNvSpPr txBox="1"/>
            <p:nvPr/>
          </p:nvSpPr>
          <p:spPr>
            <a:xfrm>
              <a:off x="4639478" y="2976336"/>
              <a:ext cx="470024" cy="205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M:1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AF185F4-B0C9-B014-3E36-98088457F3F5}"/>
                </a:ext>
              </a:extLst>
            </p:cNvPr>
            <p:cNvSpPr txBox="1"/>
            <p:nvPr/>
          </p:nvSpPr>
          <p:spPr>
            <a:xfrm>
              <a:off x="5393408" y="2434989"/>
              <a:ext cx="470024" cy="440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b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b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296FD9-1D3A-36DA-2C9E-10013D13D04F}"/>
              </a:ext>
            </a:extLst>
          </p:cNvPr>
          <p:cNvSpPr txBox="1"/>
          <p:nvPr/>
        </p:nvSpPr>
        <p:spPr>
          <a:xfrm>
            <a:off x="718689" y="975901"/>
            <a:ext cx="10462235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LY" dirty="0">
                <a:latin typeface="Cairo" pitchFamily="2" charset="-78"/>
                <a:cs typeface="Cairo" pitchFamily="2" charset="-78"/>
              </a:rPr>
              <a:t>يوضّح هذا الشكل مخطط قاعدة البيانات </a:t>
            </a:r>
            <a:r>
              <a:rPr lang="en-US" dirty="0">
                <a:latin typeface="Cairo" pitchFamily="2" charset="-78"/>
                <a:cs typeface="Cairo" pitchFamily="2" charset="-78"/>
              </a:rPr>
              <a:t>ERD </a:t>
            </a:r>
            <a:r>
              <a:rPr lang="ar-LY" dirty="0">
                <a:latin typeface="Cairo" pitchFamily="2" charset="-78"/>
                <a:cs typeface="Cairo" pitchFamily="2" charset="-78"/>
              </a:rPr>
              <a:t>للنظام، مبيّنًا الكيانات الرئيسية والعلاقات بينها لضمان تنظيم البيانات ودعم عمليات الفوترة والتسجيل بكفاءة.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E9B37E6-8A34-2C11-70B9-2322D7E455BA}"/>
              </a:ext>
            </a:extLst>
          </p:cNvPr>
          <p:cNvGrpSpPr/>
          <p:nvPr/>
        </p:nvGrpSpPr>
        <p:grpSpPr>
          <a:xfrm>
            <a:off x="-12089357" y="1453477"/>
            <a:ext cx="10607040" cy="5212080"/>
            <a:chOff x="952556" y="1492117"/>
            <a:chExt cx="10489454" cy="4713362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1211FFC-0E10-1826-2E2F-289A8AD0B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52556" y="3429000"/>
              <a:ext cx="3657600" cy="2689410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02F1E65-AEB5-65A0-1FCE-7B92CA3DCE2E}"/>
                </a:ext>
              </a:extLst>
            </p:cNvPr>
            <p:cNvGrpSpPr/>
            <p:nvPr/>
          </p:nvGrpSpPr>
          <p:grpSpPr>
            <a:xfrm>
              <a:off x="3701218" y="1492117"/>
              <a:ext cx="7740792" cy="4713362"/>
              <a:chOff x="3731387" y="1456138"/>
              <a:chExt cx="7740792" cy="4713362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CB89C7CC-6BAD-B8C6-3106-8ECF53594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357379" y="2847791"/>
                <a:ext cx="4114800" cy="3321709"/>
              </a:xfrm>
              <a:prstGeom prst="rect">
                <a:avLst/>
              </a:prstGeom>
            </p:spPr>
          </p:pic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A8790A1-EA8A-EC76-66E0-63BA84327913}"/>
                  </a:ext>
                </a:extLst>
              </p:cNvPr>
              <p:cNvGrpSpPr/>
              <p:nvPr/>
            </p:nvGrpSpPr>
            <p:grpSpPr>
              <a:xfrm>
                <a:off x="3731387" y="1456138"/>
                <a:ext cx="4139015" cy="3291840"/>
                <a:chOff x="3731387" y="1456138"/>
                <a:chExt cx="4139015" cy="3291840"/>
              </a:xfrm>
            </p:grpSpPr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55EB0CB0-D228-A2A7-CE99-B2D991DEE9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731387" y="1456138"/>
                  <a:ext cx="4139015" cy="3291840"/>
                </a:xfrm>
                <a:prstGeom prst="rect">
                  <a:avLst/>
                </a:prstGeom>
              </p:spPr>
            </p:pic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326DBD70-E9B1-CBCD-9BDA-06152A4F2B64}"/>
                    </a:ext>
                  </a:extLst>
                </p:cNvPr>
                <p:cNvCxnSpPr/>
                <p:nvPr/>
              </p:nvCxnSpPr>
              <p:spPr>
                <a:xfrm>
                  <a:off x="6591300" y="4516755"/>
                  <a:ext cx="766079" cy="0"/>
                </a:xfrm>
                <a:prstGeom prst="straightConnector1">
                  <a:avLst/>
                </a:prstGeom>
                <a:ln w="635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897F3704-712E-EF52-C37E-22A0C3CB20D2}"/>
                  </a:ext>
                </a:extLst>
              </p:cNvPr>
              <p:cNvGrpSpPr/>
              <p:nvPr/>
            </p:nvGrpSpPr>
            <p:grpSpPr>
              <a:xfrm>
                <a:off x="4786940" y="4756150"/>
                <a:ext cx="3200400" cy="1337117"/>
                <a:chOff x="5029835" y="4756150"/>
                <a:chExt cx="3200400" cy="1337117"/>
              </a:xfrm>
            </p:grpSpPr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A1E53FEF-B619-BEF7-A2DB-0C8F123ABB01}"/>
                    </a:ext>
                  </a:extLst>
                </p:cNvPr>
                <p:cNvGrpSpPr/>
                <p:nvPr/>
              </p:nvGrpSpPr>
              <p:grpSpPr>
                <a:xfrm>
                  <a:off x="5029835" y="4756150"/>
                  <a:ext cx="3200400" cy="1337117"/>
                  <a:chOff x="5252085" y="4718050"/>
                  <a:chExt cx="3200400" cy="1337117"/>
                </a:xfrm>
              </p:grpSpPr>
              <p:pic>
                <p:nvPicPr>
                  <p:cNvPr id="53" name="Picture 52" descr="A black background with a white text&#10;&#10;AI-generated content may be incorrect.">
                    <a:extLst>
                      <a:ext uri="{FF2B5EF4-FFF2-40B4-BE49-F238E27FC236}">
                        <a16:creationId xmlns:a16="http://schemas.microsoft.com/office/drawing/2014/main" id="{5ACC31CD-5929-FAFD-ED26-6135534B76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2085" y="5043856"/>
                    <a:ext cx="3200400" cy="1011311"/>
                  </a:xfrm>
                  <a:prstGeom prst="rect">
                    <a:avLst/>
                  </a:prstGeom>
                </p:spPr>
              </p:pic>
              <p:cxnSp>
                <p:nvCxnSpPr>
                  <p:cNvPr id="54" name="Straight Arrow Connector 53">
                    <a:extLst>
                      <a:ext uri="{FF2B5EF4-FFF2-40B4-BE49-F238E27FC236}">
                        <a16:creationId xmlns:a16="http://schemas.microsoft.com/office/drawing/2014/main" id="{2A504C59-903B-DE45-1F63-9E387E1C2E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5623560" y="4878070"/>
                    <a:ext cx="320040" cy="0"/>
                  </a:xfrm>
                  <a:prstGeom prst="straightConnector1">
                    <a:avLst/>
                  </a:prstGeom>
                  <a:ln w="6350">
                    <a:prstDash val="sysDash"/>
                    <a:tailEnd type="stealt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3FE14BA-A05E-947E-09DC-1AC0D3F053C8}"/>
                    </a:ext>
                  </a:extLst>
                </p:cNvPr>
                <p:cNvSpPr txBox="1"/>
                <p:nvPr/>
              </p:nvSpPr>
              <p:spPr>
                <a:xfrm>
                  <a:off x="5384800" y="4860774"/>
                  <a:ext cx="365760" cy="15388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Uses</a:t>
                  </a:r>
                </a:p>
              </p:txBody>
            </p:sp>
          </p:grpSp>
        </p:grp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49CFBFE-673A-A82C-C13F-705832E5A4F1}"/>
                </a:ext>
              </a:extLst>
            </p:cNvPr>
            <p:cNvSpPr/>
            <p:nvPr/>
          </p:nvSpPr>
          <p:spPr>
            <a:xfrm>
              <a:off x="7839368" y="4947089"/>
              <a:ext cx="542925" cy="2154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D8F1087-CC37-26BE-0FD6-BD6E01BC2290}"/>
                </a:ext>
              </a:extLst>
            </p:cNvPr>
            <p:cNvSpPr txBox="1"/>
            <p:nvPr/>
          </p:nvSpPr>
          <p:spPr>
            <a:xfrm>
              <a:off x="7923241" y="4961645"/>
              <a:ext cx="365760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Uses</a:t>
              </a:r>
              <a:endParaRPr lang="en-US" sz="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B4786657-BCB5-2ED9-B4D2-B79F1E03A881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rot="16200000" flipH="1">
              <a:off x="8386433" y="4828846"/>
              <a:ext cx="548640" cy="1099844"/>
            </a:xfrm>
            <a:prstGeom prst="bentConnector2">
              <a:avLst/>
            </a:prstGeom>
            <a:ln w="6350">
              <a:prstDash val="sysDash"/>
              <a:tailEnd type="stealt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E9252698-8AC4-0B18-8A36-DFFE9CC5BF14}"/>
                </a:ext>
              </a:extLst>
            </p:cNvPr>
            <p:cNvCxnSpPr>
              <a:stCxn id="55" idx="2"/>
              <a:endCxn id="43" idx="1"/>
            </p:cNvCxnSpPr>
            <p:nvPr/>
          </p:nvCxnSpPr>
          <p:spPr>
            <a:xfrm rot="16200000" flipH="1">
              <a:off x="6669627" y="3885056"/>
              <a:ext cx="270840" cy="2068642"/>
            </a:xfrm>
            <a:prstGeom prst="bentConnector2">
              <a:avLst/>
            </a:prstGeom>
            <a:ln w="6350">
              <a:prstDash val="sysDash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4750C8EF-6FBC-37BC-B1B1-EB08CF99D3E0}"/>
              </a:ext>
            </a:extLst>
          </p:cNvPr>
          <p:cNvSpPr txBox="1"/>
          <p:nvPr/>
        </p:nvSpPr>
        <p:spPr>
          <a:xfrm>
            <a:off x="-4850837" y="861778"/>
            <a:ext cx="3133140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b="1" dirty="0">
                <a:latin typeface="Cairo" pitchFamily="2" charset="-78"/>
                <a:cs typeface="Cairo" pitchFamily="2" charset="-78"/>
              </a:rPr>
              <a:t>6.7 التكامل بين الأنماط</a:t>
            </a:r>
          </a:p>
        </p:txBody>
      </p:sp>
    </p:spTree>
    <p:extLst>
      <p:ext uri="{BB962C8B-B14F-4D97-AF65-F5344CB8AC3E}">
        <p14:creationId xmlns:p14="http://schemas.microsoft.com/office/powerpoint/2010/main" val="4010198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FCC9CF-D0D3-9851-9335-AF050FCE0030}"/>
              </a:ext>
            </a:extLst>
          </p:cNvPr>
          <p:cNvSpPr/>
          <p:nvPr/>
        </p:nvSpPr>
        <p:spPr>
          <a:xfrm>
            <a:off x="11770858" y="227774"/>
            <a:ext cx="159653" cy="684804"/>
          </a:xfrm>
          <a:prstGeom prst="roundRect">
            <a:avLst>
              <a:gd name="adj" fmla="val 9343"/>
            </a:avLst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ED30D-377A-573E-4EE7-70A551D78037}"/>
              </a:ext>
            </a:extLst>
          </p:cNvPr>
          <p:cNvSpPr txBox="1"/>
          <p:nvPr/>
        </p:nvSpPr>
        <p:spPr>
          <a:xfrm>
            <a:off x="6707645" y="239215"/>
            <a:ext cx="49963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LY" sz="2800" b="1" dirty="0">
                <a:latin typeface="Cairo" pitchFamily="2" charset="-78"/>
                <a:cs typeface="Cairo" pitchFamily="2" charset="-78"/>
              </a:rPr>
              <a:t>8. الخلاصة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pic>
        <p:nvPicPr>
          <p:cNvPr id="5" name="Picture 4" descr="A logo of a cup with a flame&#10;&#10;AI-generated content may be incorrect.">
            <a:extLst>
              <a:ext uri="{FF2B5EF4-FFF2-40B4-BE49-F238E27FC236}">
                <a16:creationId xmlns:a16="http://schemas.microsoft.com/office/drawing/2014/main" id="{892F9E13-843C-8DA9-C0FE-C886BD66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9" y="336694"/>
            <a:ext cx="457200" cy="4572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2BAF2C-030B-4687-6C88-B81EFB81714A}"/>
              </a:ext>
            </a:extLst>
          </p:cNvPr>
          <p:cNvSpPr txBox="1"/>
          <p:nvPr/>
        </p:nvSpPr>
        <p:spPr>
          <a:xfrm>
            <a:off x="6572544" y="-4633952"/>
            <a:ext cx="513141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800" b="1" dirty="0">
                <a:latin typeface="Cairo" pitchFamily="2" charset="-78"/>
                <a:cs typeface="Cairo" pitchFamily="2" charset="-78"/>
              </a:rPr>
              <a:t>(ERD)</a:t>
            </a:r>
            <a:r>
              <a:rPr lang="ar-LY" sz="2800" b="1" dirty="0">
                <a:latin typeface="Cairo" pitchFamily="2" charset="-78"/>
                <a:cs typeface="Cairo" pitchFamily="2" charset="-78"/>
              </a:rPr>
              <a:t>7. تصميم قاعدة البيانات </a:t>
            </a:r>
            <a:endParaRPr lang="en-US" sz="2800" b="1" dirty="0">
              <a:latin typeface="Cairo" pitchFamily="2" charset="-78"/>
              <a:cs typeface="Cairo" pitchFamily="2" charset="-78"/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F626EB7-E971-B297-381F-740BC07070D4}"/>
              </a:ext>
            </a:extLst>
          </p:cNvPr>
          <p:cNvGrpSpPr/>
          <p:nvPr/>
        </p:nvGrpSpPr>
        <p:grpSpPr>
          <a:xfrm>
            <a:off x="-8309529" y="1962711"/>
            <a:ext cx="5394960" cy="4765419"/>
            <a:chOff x="3377152" y="1315341"/>
            <a:chExt cx="5394960" cy="47654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80646B-9579-2EAA-B0F9-399AD349BE8D}"/>
                </a:ext>
              </a:extLst>
            </p:cNvPr>
            <p:cNvSpPr/>
            <p:nvPr/>
          </p:nvSpPr>
          <p:spPr>
            <a:xfrm>
              <a:off x="3377152" y="1315341"/>
              <a:ext cx="5394960" cy="4765419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FE94332-ACF8-0949-4A15-95F6A3243906}"/>
                </a:ext>
              </a:extLst>
            </p:cNvPr>
            <p:cNvGrpSpPr/>
            <p:nvPr/>
          </p:nvGrpSpPr>
          <p:grpSpPr>
            <a:xfrm>
              <a:off x="5102544" y="2891169"/>
              <a:ext cx="1347195" cy="1218999"/>
              <a:chOff x="1911531" y="2141843"/>
              <a:chExt cx="1923690" cy="2796344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66344E1-CC0D-7838-5507-D1CE5BB51CD6}"/>
                  </a:ext>
                </a:extLst>
              </p:cNvPr>
              <p:cNvSpPr/>
              <p:nvPr/>
            </p:nvSpPr>
            <p:spPr>
              <a:xfrm>
                <a:off x="1911531" y="2461294"/>
                <a:ext cx="1923690" cy="2476893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username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password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balance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updated_at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7452876-AF60-EB4B-F6DE-5B816267FAA8}"/>
                  </a:ext>
                </a:extLst>
              </p:cNvPr>
              <p:cNvSpPr/>
              <p:nvPr/>
            </p:nvSpPr>
            <p:spPr>
              <a:xfrm>
                <a:off x="1911531" y="2141843"/>
                <a:ext cx="1923690" cy="406255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C344161-A70B-FD1E-FD84-E1C0B7221D2B}"/>
                </a:ext>
              </a:extLst>
            </p:cNvPr>
            <p:cNvGrpSpPr/>
            <p:nvPr/>
          </p:nvGrpSpPr>
          <p:grpSpPr>
            <a:xfrm>
              <a:off x="3449273" y="2898645"/>
              <a:ext cx="1145912" cy="1221713"/>
              <a:chOff x="92922" y="2289843"/>
              <a:chExt cx="1923690" cy="2734024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BBE2B1A-0ECC-5681-4AC6-97DA3D758F8F}"/>
                  </a:ext>
                </a:extLst>
              </p:cNvPr>
              <p:cNvSpPr/>
              <p:nvPr/>
            </p:nvSpPr>
            <p:spPr>
              <a:xfrm>
                <a:off x="92922" y="2290098"/>
                <a:ext cx="1923690" cy="2733769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user_id</a:t>
                </a: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br>
                  <a:rPr lang="en-US" sz="1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bill_id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amount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method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payment_date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BC6473C-8744-20D2-AE81-16FB57AF45DC}"/>
                  </a:ext>
                </a:extLst>
              </p:cNvPr>
              <p:cNvSpPr/>
              <p:nvPr/>
            </p:nvSpPr>
            <p:spPr>
              <a:xfrm>
                <a:off x="92922" y="2289843"/>
                <a:ext cx="1923690" cy="471005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PAYMENTS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C195CB4-7B02-D66B-3D58-15FC23FAB85D}"/>
                </a:ext>
              </a:extLst>
            </p:cNvPr>
            <p:cNvGrpSpPr/>
            <p:nvPr/>
          </p:nvGrpSpPr>
          <p:grpSpPr>
            <a:xfrm>
              <a:off x="5055015" y="4545389"/>
              <a:ext cx="1540364" cy="1471892"/>
              <a:chOff x="1864199" y="4437272"/>
              <a:chExt cx="1923692" cy="2962084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9A4EF99-466D-30BB-5408-BD140A98D978}"/>
                  </a:ext>
                </a:extLst>
              </p:cNvPr>
              <p:cNvSpPr/>
              <p:nvPr/>
            </p:nvSpPr>
            <p:spPr>
              <a:xfrm>
                <a:off x="1864199" y="4515213"/>
                <a:ext cx="1923688" cy="2884143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user_id</a:t>
                </a: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  <a:b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meter_reading_id</a:t>
                </a: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Amount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consumption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status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created_at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updated_at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268675F-CD0A-CC69-C19F-B7F3262AA562}"/>
                  </a:ext>
                </a:extLst>
              </p:cNvPr>
              <p:cNvSpPr/>
              <p:nvPr/>
            </p:nvSpPr>
            <p:spPr>
              <a:xfrm>
                <a:off x="1864201" y="4437272"/>
                <a:ext cx="1923690" cy="411363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BILLS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F4210F6-C934-9304-7837-26F49679E54B}"/>
                </a:ext>
              </a:extLst>
            </p:cNvPr>
            <p:cNvGrpSpPr/>
            <p:nvPr/>
          </p:nvGrpSpPr>
          <p:grpSpPr>
            <a:xfrm>
              <a:off x="6930149" y="1419551"/>
              <a:ext cx="1491690" cy="1167839"/>
              <a:chOff x="3921909" y="190153"/>
              <a:chExt cx="1589452" cy="2826401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33CADFC-3404-D2A1-8B92-8E096D862F8A}"/>
                  </a:ext>
                </a:extLst>
              </p:cNvPr>
              <p:cNvSpPr/>
              <p:nvPr/>
            </p:nvSpPr>
            <p:spPr>
              <a:xfrm>
                <a:off x="3921910" y="190155"/>
                <a:ext cx="1589451" cy="2826399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9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user_id</a:t>
                </a: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reading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billed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created_at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EEED4CB-D445-CEB9-FEAC-761F97F4D9CF}"/>
                  </a:ext>
                </a:extLst>
              </p:cNvPr>
              <p:cNvSpPr/>
              <p:nvPr/>
            </p:nvSpPr>
            <p:spPr>
              <a:xfrm>
                <a:off x="3921909" y="190153"/>
                <a:ext cx="1589452" cy="436118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METER_READINGS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CA27F0E-7F48-F5D4-156A-3B0885F44716}"/>
                </a:ext>
              </a:extLst>
            </p:cNvPr>
            <p:cNvGrpSpPr/>
            <p:nvPr/>
          </p:nvGrpSpPr>
          <p:grpSpPr>
            <a:xfrm>
              <a:off x="3449273" y="1375067"/>
              <a:ext cx="1145912" cy="1071063"/>
              <a:chOff x="92922" y="134380"/>
              <a:chExt cx="1923690" cy="2592191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8BFA029-3707-587D-FCF9-00E99C6615B1}"/>
                  </a:ext>
                </a:extLst>
              </p:cNvPr>
              <p:cNvSpPr/>
              <p:nvPr/>
            </p:nvSpPr>
            <p:spPr>
              <a:xfrm>
                <a:off x="92922" y="134380"/>
                <a:ext cx="1923690" cy="2592191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8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username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password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50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8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created_at</a:t>
                </a:r>
                <a:endParaRPr lang="en-US" sz="11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E8A1F89-0668-ADF1-4ADF-F93D9C8D5764}"/>
                  </a:ext>
                </a:extLst>
              </p:cNvPr>
              <p:cNvSpPr/>
              <p:nvPr/>
            </p:nvSpPr>
            <p:spPr>
              <a:xfrm>
                <a:off x="92922" y="134380"/>
                <a:ext cx="1923690" cy="543718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ADMIN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F8D07B9-E7C6-A17F-D086-884F807D813D}"/>
                </a:ext>
              </a:extLst>
            </p:cNvPr>
            <p:cNvGrpSpPr/>
            <p:nvPr/>
          </p:nvGrpSpPr>
          <p:grpSpPr>
            <a:xfrm>
              <a:off x="7046952" y="3268049"/>
              <a:ext cx="1426718" cy="1330848"/>
              <a:chOff x="4046009" y="3128568"/>
              <a:chExt cx="1520224" cy="3052925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ED56EE7-46C2-C9EE-51EB-65813580E07B}"/>
                  </a:ext>
                </a:extLst>
              </p:cNvPr>
              <p:cNvSpPr/>
              <p:nvPr/>
            </p:nvSpPr>
            <p:spPr>
              <a:xfrm>
                <a:off x="4046014" y="3128739"/>
                <a:ext cx="1520219" cy="3052754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spcBef>
                    <a:spcPts val="0"/>
                  </a:spcBef>
                  <a:spcAft>
                    <a:spcPts val="800"/>
                  </a:spcAft>
                </a:pPr>
                <a:endParaRPr lang="en-US" sz="9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id PK</a:t>
                </a:r>
                <a:endParaRPr lang="en-US" sz="12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user_id</a:t>
                </a: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FK NULL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event_type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level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message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log_time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E2270E-AEA6-1CEC-4E68-1618843465C3}"/>
                  </a:ext>
                </a:extLst>
              </p:cNvPr>
              <p:cNvSpPr/>
              <p:nvPr/>
            </p:nvSpPr>
            <p:spPr>
              <a:xfrm>
                <a:off x="4046009" y="3128568"/>
                <a:ext cx="1520215" cy="523444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LOGS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142967F-EF37-E590-AEA8-CD10A433B16C}"/>
                </a:ext>
              </a:extLst>
            </p:cNvPr>
            <p:cNvGrpSpPr/>
            <p:nvPr/>
          </p:nvGrpSpPr>
          <p:grpSpPr>
            <a:xfrm>
              <a:off x="5047693" y="1357284"/>
              <a:ext cx="1402047" cy="1055624"/>
              <a:chOff x="1851195" y="112097"/>
              <a:chExt cx="1923690" cy="2554818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2EE1FB9-C50E-8CB4-0B74-B6CA20867538}"/>
                  </a:ext>
                </a:extLst>
              </p:cNvPr>
              <p:cNvSpPr/>
              <p:nvPr/>
            </p:nvSpPr>
            <p:spPr>
              <a:xfrm>
                <a:off x="1851195" y="112097"/>
                <a:ext cx="1923690" cy="2554818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>
                  <a:lnSpc>
                    <a:spcPct val="7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endParaRPr lang="en-US" sz="900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7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id PK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marR="0">
                  <a:lnSpc>
                    <a:spcPct val="75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user_id</a:t>
                </a: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 FK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title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message</a:t>
                </a:r>
                <a:br>
                  <a:rPr lang="en-US" sz="900" kern="12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</a:br>
                <a:r>
                  <a:rPr lang="en-US" sz="900" kern="12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created_at</a:t>
                </a:r>
                <a:endParaRPr lang="en-US" sz="1200" kern="100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6E24F6A-292A-8942-50E9-DF67D650697D}"/>
                  </a:ext>
                </a:extLst>
              </p:cNvPr>
              <p:cNvSpPr/>
              <p:nvPr/>
            </p:nvSpPr>
            <p:spPr>
              <a:xfrm>
                <a:off x="1851195" y="112097"/>
                <a:ext cx="1923690" cy="477906"/>
              </a:xfrm>
              <a:prstGeom prst="rect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kern="12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Aptos" panose="020B0004020202020204" pitchFamily="34" charset="0"/>
                    <a:cs typeface="Arial" panose="020B0604020202020204" pitchFamily="34" charset="0"/>
                  </a:rPr>
                  <a:t>REPORTS</a:t>
                </a:r>
                <a:endParaRPr lang="en-US" sz="1100" kern="10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DD70CFAA-B4F1-B82B-BE55-24F3333D0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8875" y="2095555"/>
              <a:ext cx="480410" cy="892972"/>
            </a:xfrm>
            <a:prstGeom prst="bentConnector3">
              <a:avLst>
                <a:gd name="adj1" fmla="val 53138"/>
              </a:avLst>
            </a:prstGeom>
            <a:ln w="635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74E4BA7E-2B90-BFDE-9B0A-E5E1C649EC40}"/>
                </a:ext>
              </a:extLst>
            </p:cNvPr>
            <p:cNvCxnSpPr>
              <a:cxnSpLocks/>
            </p:cNvCxnSpPr>
            <p:nvPr/>
          </p:nvCxnSpPr>
          <p:spPr>
            <a:xfrm>
              <a:off x="6591997" y="2987922"/>
              <a:ext cx="470024" cy="401376"/>
            </a:xfrm>
            <a:prstGeom prst="bentConnector3">
              <a:avLst>
                <a:gd name="adj1" fmla="val 50000"/>
              </a:avLst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22A9D931-95DF-183A-33D2-508C02A5C0CD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rot="10800000" flipV="1">
              <a:off x="4595186" y="2979721"/>
              <a:ext cx="507359" cy="1"/>
            </a:xfrm>
            <a:prstGeom prst="bentConnector3">
              <a:avLst>
                <a:gd name="adj1" fmla="val 50000"/>
              </a:avLst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5F92FEEA-4134-F063-3570-EB689DA10752}"/>
                </a:ext>
              </a:extLst>
            </p:cNvPr>
            <p:cNvCxnSpPr>
              <a:cxnSpLocks/>
              <a:stCxn id="35" idx="1"/>
              <a:endCxn id="37" idx="2"/>
            </p:cNvCxnSpPr>
            <p:nvPr/>
          </p:nvCxnSpPr>
          <p:spPr>
            <a:xfrm rot="10800000">
              <a:off x="4022229" y="4120358"/>
              <a:ext cx="1032786" cy="1180342"/>
            </a:xfrm>
            <a:prstGeom prst="bentConnector2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57531A86-2EA3-682C-D087-6D5854BD11FE}"/>
                </a:ext>
              </a:extLst>
            </p:cNvPr>
            <p:cNvCxnSpPr>
              <a:cxnSpLocks/>
              <a:stCxn id="35" idx="3"/>
              <a:endCxn id="33" idx="3"/>
            </p:cNvCxnSpPr>
            <p:nvPr/>
          </p:nvCxnSpPr>
          <p:spPr>
            <a:xfrm flipV="1">
              <a:off x="6595376" y="2003471"/>
              <a:ext cx="1826463" cy="3297229"/>
            </a:xfrm>
            <a:prstGeom prst="bentConnector3">
              <a:avLst>
                <a:gd name="adj1" fmla="val 112516"/>
              </a:avLst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2496C4D3-2349-A1CF-2350-010C97BE1B5E}"/>
                </a:ext>
              </a:extLst>
            </p:cNvPr>
            <p:cNvCxnSpPr/>
            <p:nvPr/>
          </p:nvCxnSpPr>
          <p:spPr>
            <a:xfrm rot="16200000" flipV="1">
              <a:off x="5517762" y="2650997"/>
              <a:ext cx="457200" cy="0"/>
            </a:xfrm>
            <a:prstGeom prst="bentConnector3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6442C80C-EF33-FEB3-CBD0-56E831686231}"/>
                </a:ext>
              </a:extLst>
            </p:cNvPr>
            <p:cNvCxnSpPr/>
            <p:nvPr/>
          </p:nvCxnSpPr>
          <p:spPr>
            <a:xfrm rot="5400000">
              <a:off x="5593270" y="4326186"/>
              <a:ext cx="435987" cy="0"/>
            </a:xfrm>
            <a:prstGeom prst="bentConnector3">
              <a:avLst/>
            </a:prstGeom>
            <a:ln w="63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48A037B-4AAE-E1BF-EC20-AC9915C6BA1A}"/>
                </a:ext>
              </a:extLst>
            </p:cNvPr>
            <p:cNvSpPr txBox="1"/>
            <p:nvPr/>
          </p:nvSpPr>
          <p:spPr>
            <a:xfrm>
              <a:off x="5501611" y="4084915"/>
              <a:ext cx="408292" cy="440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b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b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DB5B0F9-0D8F-1EC6-90DB-DB340AD8A0E1}"/>
                </a:ext>
              </a:extLst>
            </p:cNvPr>
            <p:cNvSpPr txBox="1"/>
            <p:nvPr/>
          </p:nvSpPr>
          <p:spPr>
            <a:xfrm>
              <a:off x="6653072" y="3106682"/>
              <a:ext cx="351333" cy="2054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1:M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302B828-318B-FCFA-9E07-E80314212B26}"/>
                </a:ext>
              </a:extLst>
            </p:cNvPr>
            <p:cNvSpPr txBox="1"/>
            <p:nvPr/>
          </p:nvSpPr>
          <p:spPr>
            <a:xfrm>
              <a:off x="6559200" y="2376189"/>
              <a:ext cx="262184" cy="48426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b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b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9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ar-LY" sz="9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DB1CB27-0C4C-A248-C297-77F732102CC1}"/>
                </a:ext>
              </a:extLst>
            </p:cNvPr>
            <p:cNvSpPr txBox="1"/>
            <p:nvPr/>
          </p:nvSpPr>
          <p:spPr>
            <a:xfrm>
              <a:off x="8541733" y="2895341"/>
              <a:ext cx="187832" cy="52829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1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1:1</a:t>
              </a:r>
              <a:endParaRPr lang="ar-LY" sz="1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A1817EA-B3B4-368A-9CF5-EAF25D12ADEF}"/>
                </a:ext>
              </a:extLst>
            </p:cNvPr>
            <p:cNvSpPr txBox="1"/>
            <p:nvPr/>
          </p:nvSpPr>
          <p:spPr>
            <a:xfrm>
              <a:off x="4280605" y="5172212"/>
              <a:ext cx="368814" cy="2347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1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1:1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6AA4340-DD98-FBEF-F362-97F0CB4187DA}"/>
                </a:ext>
              </a:extLst>
            </p:cNvPr>
            <p:cNvSpPr txBox="1"/>
            <p:nvPr/>
          </p:nvSpPr>
          <p:spPr>
            <a:xfrm>
              <a:off x="4639478" y="2976336"/>
              <a:ext cx="470024" cy="205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M:1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AF185F4-B0C9-B014-3E36-98088457F3F5}"/>
                </a:ext>
              </a:extLst>
            </p:cNvPr>
            <p:cNvSpPr txBox="1"/>
            <p:nvPr/>
          </p:nvSpPr>
          <p:spPr>
            <a:xfrm>
              <a:off x="5393408" y="2434989"/>
              <a:ext cx="470024" cy="4402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b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b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ar-LY" sz="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6296FD9-1D3A-36DA-2C9E-10013D13D04F}"/>
              </a:ext>
            </a:extLst>
          </p:cNvPr>
          <p:cNvSpPr txBox="1"/>
          <p:nvPr/>
        </p:nvSpPr>
        <p:spPr>
          <a:xfrm>
            <a:off x="-10979835" y="975901"/>
            <a:ext cx="10462235" cy="888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LY" dirty="0">
                <a:latin typeface="Cairo" pitchFamily="2" charset="-78"/>
                <a:cs typeface="Cairo" pitchFamily="2" charset="-78"/>
              </a:rPr>
              <a:t>يوضّح هذا الشكل مخطط قاعدة البيانات </a:t>
            </a:r>
            <a:r>
              <a:rPr lang="en-US" dirty="0">
                <a:latin typeface="Cairo" pitchFamily="2" charset="-78"/>
                <a:cs typeface="Cairo" pitchFamily="2" charset="-78"/>
              </a:rPr>
              <a:t>ERD </a:t>
            </a:r>
            <a:r>
              <a:rPr lang="ar-LY" dirty="0">
                <a:latin typeface="Cairo" pitchFamily="2" charset="-78"/>
                <a:cs typeface="Cairo" pitchFamily="2" charset="-78"/>
              </a:rPr>
              <a:t>للنظام، مبيّنًا الكيانات الرئيسية والعلاقات بينها لضمان تنظيم البيانات ودعم عمليات الفوترة والتسجيل بكفاءة.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AF27C-DEAF-DFCE-91B2-F807BFE3C17C}"/>
              </a:ext>
            </a:extLst>
          </p:cNvPr>
          <p:cNvSpPr txBox="1"/>
          <p:nvPr/>
        </p:nvSpPr>
        <p:spPr>
          <a:xfrm>
            <a:off x="1002615" y="1757767"/>
            <a:ext cx="10462235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>
              <a:lnSpc>
                <a:spcPct val="150000"/>
              </a:lnSpc>
            </a:pPr>
            <a:r>
              <a:rPr lang="ar-LY" dirty="0">
                <a:latin typeface="Cairo" pitchFamily="2" charset="-78"/>
                <a:cs typeface="Cairo" pitchFamily="2" charset="-78"/>
              </a:rPr>
              <a:t>من خلال تطبيق أنماط مثل </a:t>
            </a:r>
            <a:r>
              <a:rPr lang="en-US" dirty="0">
                <a:latin typeface="Cairo" pitchFamily="2" charset="-78"/>
                <a:cs typeface="Cairo" pitchFamily="2" charset="-78"/>
              </a:rPr>
              <a:t>Singleton </a:t>
            </a:r>
            <a:r>
              <a:rPr lang="ar-LY" dirty="0">
                <a:latin typeface="Cairo" pitchFamily="2" charset="-78"/>
                <a:cs typeface="Cairo" pitchFamily="2" charset="-78"/>
              </a:rPr>
              <a:t>و </a:t>
            </a:r>
            <a:r>
              <a:rPr lang="en-US" dirty="0">
                <a:latin typeface="Cairo" pitchFamily="2" charset="-78"/>
                <a:cs typeface="Cairo" pitchFamily="2" charset="-78"/>
              </a:rPr>
              <a:t>Observer </a:t>
            </a:r>
            <a:r>
              <a:rPr lang="ar-LY" dirty="0">
                <a:latin typeface="Cairo" pitchFamily="2" charset="-78"/>
                <a:cs typeface="Cairo" pitchFamily="2" charset="-78"/>
              </a:rPr>
              <a:t>و </a:t>
            </a:r>
            <a:r>
              <a:rPr lang="en-US" dirty="0">
                <a:latin typeface="Cairo" pitchFamily="2" charset="-78"/>
                <a:cs typeface="Cairo" pitchFamily="2" charset="-78"/>
              </a:rPr>
              <a:t>Factory </a:t>
            </a:r>
            <a:r>
              <a:rPr lang="ar-LY" dirty="0">
                <a:latin typeface="Cairo" pitchFamily="2" charset="-78"/>
                <a:cs typeface="Cairo" pitchFamily="2" charset="-78"/>
              </a:rPr>
              <a:t>و </a:t>
            </a:r>
            <a:r>
              <a:rPr lang="en-US" dirty="0">
                <a:latin typeface="Cairo" pitchFamily="2" charset="-78"/>
                <a:cs typeface="Cairo" pitchFamily="2" charset="-78"/>
              </a:rPr>
              <a:t>Strategy </a:t>
            </a:r>
            <a:r>
              <a:rPr lang="ar-LY" dirty="0">
                <a:latin typeface="Cairo" pitchFamily="2" charset="-78"/>
                <a:cs typeface="Cairo" pitchFamily="2" charset="-78"/>
              </a:rPr>
              <a:t>و </a:t>
            </a:r>
            <a:r>
              <a:rPr lang="en-US" dirty="0">
                <a:latin typeface="Cairo" pitchFamily="2" charset="-78"/>
                <a:cs typeface="Cairo" pitchFamily="2" charset="-78"/>
              </a:rPr>
              <a:t>Template Method </a:t>
            </a:r>
            <a:r>
              <a:rPr lang="ar-LY" dirty="0">
                <a:latin typeface="Cairo" pitchFamily="2" charset="-78"/>
                <a:cs typeface="Cairo" pitchFamily="2" charset="-78"/>
              </a:rPr>
              <a:t>و </a:t>
            </a:r>
            <a:r>
              <a:rPr lang="en-US" dirty="0">
                <a:latin typeface="Cairo" pitchFamily="2" charset="-78"/>
                <a:cs typeface="Cairo" pitchFamily="2" charset="-78"/>
              </a:rPr>
              <a:t>Facade </a:t>
            </a:r>
            <a:r>
              <a:rPr lang="ar-LY" dirty="0">
                <a:latin typeface="Cairo" pitchFamily="2" charset="-78"/>
                <a:cs typeface="Cairo" pitchFamily="2" charset="-78"/>
              </a:rPr>
              <a:t>و </a:t>
            </a:r>
            <a:r>
              <a:rPr lang="en-US" dirty="0">
                <a:latin typeface="Cairo" pitchFamily="2" charset="-78"/>
                <a:cs typeface="Cairo" pitchFamily="2" charset="-78"/>
              </a:rPr>
              <a:t>DAO، </a:t>
            </a:r>
            <a:r>
              <a:rPr lang="ar-LY" dirty="0">
                <a:latin typeface="Cairo" pitchFamily="2" charset="-78"/>
                <a:cs typeface="Cairo" pitchFamily="2" charset="-78"/>
              </a:rPr>
              <a:t>تم تحقيق فصل واضح للمسؤوليات، وزيادة مرونة النظام، وتحسين تنظيم الكود البرمجي وقابليته للصيانة والتوسعة.</a:t>
            </a:r>
          </a:p>
        </p:txBody>
      </p:sp>
    </p:spTree>
    <p:extLst>
      <p:ext uri="{BB962C8B-B14F-4D97-AF65-F5344CB8AC3E}">
        <p14:creationId xmlns:p14="http://schemas.microsoft.com/office/powerpoint/2010/main" val="1363622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</TotalTime>
  <Words>1477</Words>
  <Application>Microsoft Office PowerPoint</Application>
  <PresentationFormat>Widescreen</PresentationFormat>
  <Paragraphs>370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Cairo</vt:lpstr>
      <vt:lpstr>Times New Roman</vt:lpstr>
      <vt:lpstr>ui-sans-serif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Nojaid Ad</dc:creator>
  <cp:lastModifiedBy>Nojaid Ad</cp:lastModifiedBy>
  <cp:revision>197</cp:revision>
  <dcterms:created xsi:type="dcterms:W3CDTF">2025-12-20T11:09:16Z</dcterms:created>
  <dcterms:modified xsi:type="dcterms:W3CDTF">2025-12-21T14:50:01Z</dcterms:modified>
</cp:coreProperties>
</file>